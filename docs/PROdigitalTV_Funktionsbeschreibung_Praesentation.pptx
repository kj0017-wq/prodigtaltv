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f72b722ab44e60" /><Relationship Type="http://schemas.openxmlformats.org/officeDocument/2006/relationships/extended-properties" Target="/docProps/app.xml" Id="R133b584959bb4df7" /><Relationship Type="http://schemas.openxmlformats.org/officeDocument/2006/relationships/officeDocument" Target="/ppt/presentation.xml" Id="R45a51d77149b4c46" /></Relationships>
</file>

<file path=ppt/presentation.xml><?xml version="1.0" encoding="utf-8"?>
<p:presentation xmlns:p="http://schemas.openxmlformats.org/presentationml/2006/main">
  <p:sldMasterIdLst>
    <p:sldMasterId xmlns:r="http://schemas.openxmlformats.org/officeDocument/2006/relationships" id="2147483648" r:id="Re7456beda5ba44e0"/>
  </p:sldMasterIdLst>
  <p:notesMasterIdLst>
    <p:notesMasterId xmlns:r="http://schemas.openxmlformats.org/officeDocument/2006/relationships" r:id="R9bbee17570e74149"/>
  </p:notesMasterIdLst>
  <p:sldIdLst>
    <p:sldId xmlns:r="http://schemas.openxmlformats.org/officeDocument/2006/relationships" id="256" r:id="R57bc5d003d364abd"/>
    <p:sldId xmlns:r="http://schemas.openxmlformats.org/officeDocument/2006/relationships" id="257" r:id="R6b870e7e3d5c4079"/>
    <p:sldId xmlns:r="http://schemas.openxmlformats.org/officeDocument/2006/relationships" id="258" r:id="R8caa3b8504c14ad2"/>
    <p:sldId xmlns:r="http://schemas.openxmlformats.org/officeDocument/2006/relationships" id="259" r:id="R6f90b1806b4f4444"/>
    <p:sldId xmlns:r="http://schemas.openxmlformats.org/officeDocument/2006/relationships" id="260" r:id="R8493d5d850214546"/>
    <p:sldId xmlns:r="http://schemas.openxmlformats.org/officeDocument/2006/relationships" id="261" r:id="R5ad6ae55978a49b7"/>
    <p:sldId xmlns:r="http://schemas.openxmlformats.org/officeDocument/2006/relationships" id="262" r:id="R7390d7d704cc4cc5"/>
    <p:sldId xmlns:r="http://schemas.openxmlformats.org/officeDocument/2006/relationships" id="263" r:id="R59d501956af141bf"/>
    <p:sldId xmlns:r="http://schemas.openxmlformats.org/officeDocument/2006/relationships" id="264" r:id="Rfb50b99d99bf4904"/>
    <p:sldId xmlns:r="http://schemas.openxmlformats.org/officeDocument/2006/relationships" id="265" r:id="R63e11c897bd44527"/>
    <p:sldId xmlns:r="http://schemas.openxmlformats.org/officeDocument/2006/relationships" id="266" r:id="R7e67daf2d5924bf8"/>
    <p:sldId xmlns:r="http://schemas.openxmlformats.org/officeDocument/2006/relationships" id="267" r:id="R45ce3d2157444d58"/>
    <p:sldId xmlns:r="http://schemas.openxmlformats.org/officeDocument/2006/relationships" id="268" r:id="R07ed1362484342b3"/>
    <p:sldId xmlns:r="http://schemas.openxmlformats.org/officeDocument/2006/relationships" id="269" r:id="R2505bdbc59e44f9a"/>
    <p:sldId xmlns:r="http://schemas.openxmlformats.org/officeDocument/2006/relationships" id="270" r:id="Re3d9514fd5f14797"/>
    <p:sldId xmlns:r="http://schemas.openxmlformats.org/officeDocument/2006/relationships" id="271" r:id="R6275dadfc06f43ac"/>
    <p:sldId xmlns:r="http://schemas.openxmlformats.org/officeDocument/2006/relationships" id="272" r:id="R6802173959da4098"/>
    <p:sldId xmlns:r="http://schemas.openxmlformats.org/officeDocument/2006/relationships" id="273" r:id="Rd8e2eeabd9a446d6"/>
    <p:sldId xmlns:r="http://schemas.openxmlformats.org/officeDocument/2006/relationships" id="274" r:id="Rd15a37ea356a4a11"/>
    <p:sldId xmlns:r="http://schemas.openxmlformats.org/officeDocument/2006/relationships" id="275" r:id="R7903bacd44964cd1"/>
    <p:sldId xmlns:r="http://schemas.openxmlformats.org/officeDocument/2006/relationships" id="276" r:id="R4a3b8e61ec424580"/>
    <p:sldId xmlns:r="http://schemas.openxmlformats.org/officeDocument/2006/relationships" id="277" r:id="Rfb3e35df795e47aa"/>
    <p:sldId xmlns:r="http://schemas.openxmlformats.org/officeDocument/2006/relationships" id="278" r:id="R70542fb3c9714516"/>
    <p:sldId xmlns:r="http://schemas.openxmlformats.org/officeDocument/2006/relationships" id="279" r:id="R002b7fa0227c4cc1"/>
    <p:sldId xmlns:r="http://schemas.openxmlformats.org/officeDocument/2006/relationships" id="280" r:id="Rd902ce11b1124e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4760bbe084d9b" /><Relationship Type="http://schemas.openxmlformats.org/officeDocument/2006/relationships/slideMaster" Target="/ppt/slideMasters/slideMaster1.xml" Id="Re7456beda5ba44e0" /><Relationship Type="http://schemas.openxmlformats.org/officeDocument/2006/relationships/notesMaster" Target="/ppt/notesMasters/notesMaster1.xml" Id="R9bbee17570e74149" /><Relationship Type="http://schemas.openxmlformats.org/officeDocument/2006/relationships/presProps" Target="/ppt/presProps.xml" Id="Rbd389c0451414f4c" /><Relationship Type="http://schemas.openxmlformats.org/officeDocument/2006/relationships/tableStyles" Target="/ppt/tableStyles.xml" Id="R2da03cf61a0f4e6e" /><Relationship Type="http://schemas.openxmlformats.org/officeDocument/2006/relationships/slide" Target="/ppt/slides/slide1.xml" Id="R57bc5d003d364abd" /><Relationship Type="http://schemas.openxmlformats.org/officeDocument/2006/relationships/slide" Target="/ppt/slides/slide2.xml" Id="R6b870e7e3d5c4079" /><Relationship Type="http://schemas.openxmlformats.org/officeDocument/2006/relationships/slide" Target="/ppt/slides/slide3.xml" Id="R8caa3b8504c14ad2" /><Relationship Type="http://schemas.openxmlformats.org/officeDocument/2006/relationships/slide" Target="/ppt/slides/slide4.xml" Id="R6f90b1806b4f4444" /><Relationship Type="http://schemas.openxmlformats.org/officeDocument/2006/relationships/slide" Target="/ppt/slides/slide5.xml" Id="R8493d5d850214546" /><Relationship Type="http://schemas.openxmlformats.org/officeDocument/2006/relationships/slide" Target="/ppt/slides/slide6.xml" Id="R5ad6ae55978a49b7" /><Relationship Type="http://schemas.openxmlformats.org/officeDocument/2006/relationships/slide" Target="/ppt/slides/slide7.xml" Id="R7390d7d704cc4cc5" /><Relationship Type="http://schemas.openxmlformats.org/officeDocument/2006/relationships/slide" Target="/ppt/slides/slide8.xml" Id="R59d501956af141bf" /><Relationship Type="http://schemas.openxmlformats.org/officeDocument/2006/relationships/slide" Target="/ppt/slides/slide9.xml" Id="Rfb50b99d99bf4904" /><Relationship Type="http://schemas.openxmlformats.org/officeDocument/2006/relationships/slide" Target="/ppt/slides/slide10.xml" Id="R63e11c897bd44527" /><Relationship Type="http://schemas.openxmlformats.org/officeDocument/2006/relationships/slide" Target="/ppt/slides/slide11.xml" Id="R7e67daf2d5924bf8" /><Relationship Type="http://schemas.openxmlformats.org/officeDocument/2006/relationships/slide" Target="/ppt/slides/slide12.xml" Id="R45ce3d2157444d58" /><Relationship Type="http://schemas.openxmlformats.org/officeDocument/2006/relationships/slide" Target="/ppt/slides/slide13.xml" Id="R07ed1362484342b3" /><Relationship Type="http://schemas.openxmlformats.org/officeDocument/2006/relationships/slide" Target="/ppt/slides/slide14.xml" Id="R2505bdbc59e44f9a" /><Relationship Type="http://schemas.openxmlformats.org/officeDocument/2006/relationships/slide" Target="/ppt/slides/slide15.xml" Id="Re3d9514fd5f14797" /><Relationship Type="http://schemas.openxmlformats.org/officeDocument/2006/relationships/slide" Target="/ppt/slides/slide16.xml" Id="R6275dadfc06f43ac" /><Relationship Type="http://schemas.openxmlformats.org/officeDocument/2006/relationships/slide" Target="/ppt/slides/slide17.xml" Id="R6802173959da4098" /><Relationship Type="http://schemas.openxmlformats.org/officeDocument/2006/relationships/slide" Target="/ppt/slides/slide18.xml" Id="Rd8e2eeabd9a446d6" /><Relationship Type="http://schemas.openxmlformats.org/officeDocument/2006/relationships/slide" Target="/ppt/slides/slide19.xml" Id="Rd15a37ea356a4a11" /><Relationship Type="http://schemas.openxmlformats.org/officeDocument/2006/relationships/slide" Target="/ppt/slides/slide20.xml" Id="R7903bacd44964cd1" /><Relationship Type="http://schemas.openxmlformats.org/officeDocument/2006/relationships/slide" Target="/ppt/slides/slide21.xml" Id="R4a3b8e61ec424580" /><Relationship Type="http://schemas.openxmlformats.org/officeDocument/2006/relationships/slide" Target="/ppt/slides/slide22.xml" Id="Rfb3e35df795e47aa" /><Relationship Type="http://schemas.openxmlformats.org/officeDocument/2006/relationships/slide" Target="/ppt/slides/slide23.xml" Id="R70542fb3c9714516" /><Relationship Type="http://schemas.openxmlformats.org/officeDocument/2006/relationships/slide" Target="/ppt/slides/slide24.xml" Id="R002b7fa0227c4cc1" /><Relationship Type="http://schemas.openxmlformats.org/officeDocument/2006/relationships/slide" Target="/ppt/slides/slide25.xml" Id="Rd902ce11b1124e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0aa6c6609e49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a37d054ea44978" /><Relationship Type="http://schemas.openxmlformats.org/officeDocument/2006/relationships/notesMaster" Target="/ppt/notesMasters/notesMaster1.xml" Id="R98596b00ae3b4d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4cde1601b2423e" /><Relationship Type="http://schemas.openxmlformats.org/officeDocument/2006/relationships/notesMaster" Target="/ppt/notesMasters/notesMaster1.xml" Id="R157b5718d47d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54417e938d46ff" /><Relationship Type="http://schemas.openxmlformats.org/officeDocument/2006/relationships/notesMaster" Target="/ppt/notesMasters/notesMaster1.xml" Id="Rfe3cd1a2aee141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756984289f4bee" /><Relationship Type="http://schemas.openxmlformats.org/officeDocument/2006/relationships/notesMaster" Target="/ppt/notesMasters/notesMaster1.xml" Id="R705df7a2e79547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77284a685d4faf" /><Relationship Type="http://schemas.openxmlformats.org/officeDocument/2006/relationships/notesMaster" Target="/ppt/notesMasters/notesMaster1.xml" Id="Rb0e738acf28b4e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46c46fd6734c06" /><Relationship Type="http://schemas.openxmlformats.org/officeDocument/2006/relationships/notesMaster" Target="/ppt/notesMasters/notesMaster1.xml" Id="R04ed47d0ad294f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91bc640c0d4b83" /><Relationship Type="http://schemas.openxmlformats.org/officeDocument/2006/relationships/notesMaster" Target="/ppt/notesMasters/notesMaster1.xml" Id="Rf063c81a752642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757026be724cf7" /><Relationship Type="http://schemas.openxmlformats.org/officeDocument/2006/relationships/notesMaster" Target="/ppt/notesMasters/notesMaster1.xml" Id="R794327bf6c2840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5d7bdea7924df0" /><Relationship Type="http://schemas.openxmlformats.org/officeDocument/2006/relationships/notesMaster" Target="/ppt/notesMasters/notesMaster1.xml" Id="R57b6793f22de4a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d5bcf0ee954b7e" /><Relationship Type="http://schemas.openxmlformats.org/officeDocument/2006/relationships/notesMaster" Target="/ppt/notesMasters/notesMaster1.xml" Id="R49ba0bb36b2a45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87545d17d24979" /><Relationship Type="http://schemas.openxmlformats.org/officeDocument/2006/relationships/notesMaster" Target="/ppt/notesMasters/notesMaster1.xml" Id="R7d3bf940e4bd43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e0152af4aa4517" /><Relationship Type="http://schemas.openxmlformats.org/officeDocument/2006/relationships/notesMaster" Target="/ppt/notesMasters/notesMaster1.xml" Id="R67e5829c1bea48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01eb32d7d74716" /><Relationship Type="http://schemas.openxmlformats.org/officeDocument/2006/relationships/notesMaster" Target="/ppt/notesMasters/notesMaster1.xml" Id="R1df3709d7ed948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142dcc9b424bc8" /><Relationship Type="http://schemas.openxmlformats.org/officeDocument/2006/relationships/notesMaster" Target="/ppt/notesMasters/notesMaster1.xml" Id="Rac06ba23ba0144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99d7c7e8954a59" /><Relationship Type="http://schemas.openxmlformats.org/officeDocument/2006/relationships/notesMaster" Target="/ppt/notesMasters/notesMaster1.xml" Id="R4697d46cb05d49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535fb507564a1b" /><Relationship Type="http://schemas.openxmlformats.org/officeDocument/2006/relationships/notesMaster" Target="/ppt/notesMasters/notesMaster1.xml" Id="R5fc08869ed8844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65f442094146d6" /><Relationship Type="http://schemas.openxmlformats.org/officeDocument/2006/relationships/notesMaster" Target="/ppt/notesMasters/notesMaster1.xml" Id="R0cd7e47610b94c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aee19be5794181" /><Relationship Type="http://schemas.openxmlformats.org/officeDocument/2006/relationships/notesMaster" Target="/ppt/notesMasters/notesMaster1.xml" Id="R1a152d9413984d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89e7a95f6c4e4f" /><Relationship Type="http://schemas.openxmlformats.org/officeDocument/2006/relationships/notesMaster" Target="/ppt/notesMasters/notesMaster1.xml" Id="Rc1595743e79341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2eac053d1e4d11" /><Relationship Type="http://schemas.openxmlformats.org/officeDocument/2006/relationships/notesMaster" Target="/ppt/notesMasters/notesMaster1.xml" Id="R72b71fb2c90f44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e6acc0d5164b0c" /><Relationship Type="http://schemas.openxmlformats.org/officeDocument/2006/relationships/notesMaster" Target="/ppt/notesMasters/notesMaster1.xml" Id="R32a97eee7d7a4d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777a6570aa4d5e" /><Relationship Type="http://schemas.openxmlformats.org/officeDocument/2006/relationships/notesMaster" Target="/ppt/notesMasters/notesMaster1.xml" Id="Re7649a230cdb43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40295af73246fc" /><Relationship Type="http://schemas.openxmlformats.org/officeDocument/2006/relationships/notesMaster" Target="/ppt/notesMasters/notesMaster1.xml" Id="R939ab4be72c0443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03201bc0f2d4d23" /><Relationship Type="http://schemas.openxmlformats.org/officeDocument/2006/relationships/notesMaster" Target="/ppt/notesMasters/notesMaster1.xml" Id="R9ddb72d20dc949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f610cee3054750" /><Relationship Type="http://schemas.openxmlformats.org/officeDocument/2006/relationships/notesMaster" Target="/ppt/notesMasters/notesMaster1.xml" Id="R92215d85f83b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Guten Tag und herzlich willkommen. Ich moechte Ihnen heute zeigen, wie sich PROdigitalTV von einer klassischen Webseite zu einer echten digitalen Plattform weiterentwickelt. Im Mittelpunkt stehen dabei Veranstaltungen, redaktionelle Inhalte, Mitgliederkommunikation und professionelle Eventprozesse. Entscheidend ist: Diese Plattform soll nicht nur Informationen anzeigen. Sie soll Arbeit erleichtern, Kommunikation buendeln und aus jeder Veranstaltung einen nachhaltigen fachlichen Inhalt machen. Deshalb sprechen wir heute ueber eine Loesung, die vor dem Event beginnt, den Einlass vor Ort unterstuetzt und nach der Veranstaltung weiterwirkt.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Wenn wir auf das Zielbild schauen, sehen wir einen geschlossenen Kommunikationskreislauf. Ein Event wird geplant, beworben, durch Anmeldungen strukturiert und vor Ort professionell begleitet. Danach entstehen Rueckblicke, Themenbeitraege, Referentenprofile und gezielte Nachkommunikation. Der grosse Unterschied zu vielen Einzelsystemen ist: Die Informationen muessen nicht immer wieder neu zusammengesucht werden. Die Plattform verbindet Webseite, CMS, Eventverwaltung, Medien und Mitgliederbereich zu einem Arbeitsraum, in dem Inhalte dauerhaft nutzbar bleiben.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wichtigsten Staerken liegen im Zusammenspiel der Funktionen. Events werden nicht mehr isoliert betrachtet, sondern als kompletter Prozess. Referenten bekommen eine eigene sichtbare Buehne. Redaktionelle Inhalte koennen mit Bildern, Audio, Video, PDF und Galerien angereichert werden. Mail und Push helfen, die richtigen Zielgruppen zu erreichen. Das Handy-Ticket macht die Teilnahme komfortabler. Und weil die Web-App mobile first gedacht ist, funktioniert der Zugang dort, wo Besucher, Teilnehmer und Mitglieder ihn am haeufigsten brauchen: auf dem Smartphone.</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Plattform folgt einer klaren Aufgabenteilung. Die oeffentliche Web-App ist fuer Nutzerinnen und Nutzer optimiert: schnell, mobil, direkt und uebersichtlich. Dort finden sie Events, Themen, News, Referenten, Mitgliederfunktionen und ihr Ticket. Das CMS dagegen ist die Arbeitsoberflaeche fuer Redaktion und Verwaltung. Dort werden Inhalte gepflegt, Bilder bearbeitet, Teilnehmer organisiert und Freigaben gesetzt. Diese Trennung ist wichtig, weil mobile Nutzung einfach sein muss, waehrend redaktionelle Arbeit Platz, Kontrolle und Uebersicht braucht.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sehen wir den Kern der Eventsteuerung. Ein Event beginnt mit Planung und inhaltlicher Vorbereitung. Danach wird entschieden, wann es veroeffentlicht wird und welche Zielgruppen eingeladen werden. Erst dann folgen Anmeldung, Durchfuehrung und Rueckblick. Besonders wichtig ist der hintere Teil des Prozesses: Aus Vortraegen werden Robo-Themen, aus Referenten werden sichtbare Fachprofile, und aus Teilnehmern wird ein gezielt ansprechbarer Kreis fuer die Nachkommunikation. So verlaengert die Plattform die Wirkung eines Events deutlich ueber den Veranstaltungstag hinaus.</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Eventplanung ist die Grundlage fuer alle weiteren Schritte. Hier werden Titel, Termin, Ort, Gastgeber, Eventtyp, Sichtbarkeit und Startseitenfreigabe festgelegt. Gerade diese scheinbar einfachen Angaben sind entscheidend, weil sie steuern, ob ein Event oeffentlich sichtbar ist, nur fuer Mitglieder erscheint oder auf der Startseite hervorgehoben wird. Damit wird aus einer redaktionellen Eingabe eine klare Steuerung fuer Webseite, Anmeldung, Kommunikation und Archiv.</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wichtiger Baustein ist die zentrale Einladung. PROdigitalTV kann sehr genau entscheiden, welcher Besucherkreis angesprochen werden soll: der gesamte Adressbestand, nur Vereinsmitglieder, eine bestimmte Teilnehmergruppe oder ein ausgewaehlter Verteiler. Die Mail bleibt dabei der verlaessliche Kanal fuer ausfuehrliche Informationen. Push-Nachrichten ergaenzen das durch kurze, schnelle Hinweise auf dem Smartphone. So wird Kommunikation gezielter, weniger beliebig und fuer die Empfaenger relevanter.</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Anmeldung ist mehr als ein Formular. Sie erzeugt den Datensatz, mit dem die Veranstaltung organisatorisch steuerbar wird. Dazu gehoeren Datenschutz- und Foto-/Videohinweise, Dublettenpruefung, Wartelistenlogik, Bestaetigungsmails und der Status der Teilnahme. Auch manuell hinzugefuegte Personen sollen eine Bestaetigung erhalten und sich aktivieren koennen. Damit entsteht eine belastbare Grundlage fuer Einlass, Kommunikation, Stornierung und Nachbereitung.</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QR-Code spielt vor allem dann eine Rolle, wenn sich ein Teilnehmer am Desktop anmeldet. Dann erscheint am Desktop ein QR-Code, der mit dem Smartphone gescannt wird. Wichtig ist: Dieser QR-Code ist nicht das eigentliche Ticket. Er uebertraegt den persoenlichen Token auf das betreffende Handy. Ab diesem Moment kann das System genau dieses Smartphone der konkreten Anmeldung und dem konkreten Event zuordnen. Das Handy wird damit zum persoenlichen Zugangstraeger.</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Einlass wird daraus ein professioneller Prozess. Das System erkennt anhand des gespeicherten Tokens, welche Anmeldung zu diesem Handy gehoert. Dadurch kann der Teilnehmerstatus schnell geprueft werden. Gleichzeitig entsteht die Moeglichkeit, den Gast persoenlich auf einem Screen zu begruessen. Das wirkt nicht nur hochwertig, sondern hilft auch organisatorisch: Der Einlass sieht sofort, ob jemand angemeldet, storniert, auf der Warteliste oder bereits eingecheckt ist.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Waehrend der Veranstaltung unterstuetzt die Plattform den Ablauf vor Ort. Check-in, Status, Teilnehmeruebersicht und Eventkontakte bleiben an einer Stelle verfuegbar. Gleichzeitig kann Material gesammelt werden, zum Beispiel Fotos von Mitgliedern waehrend oder nach dem Event. Dadurch wird die Veranstaltung nicht nur administriert, sondern auch dokumentiert. Das ist besonders wichtig, weil gute Eventkommunikation nicht erst nachtraeglich beginnt, sondern schon waehrend der Veranstaltung vorbereitet wird.</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Nach dem Event beginnt die zweite Wirkungsebene. Teilnehmer koennen gezielt informiert werden: mit Dankesmail, Rueckblick, Fotogalerie, Hinweisen auf Robo-Themen oder passenden Folgeevents. Das ist ein grosser Vorteil gegenueber einer einmaligen Einladung. Wer an einer Veranstaltung teilgenommen hat, interessiert sich oft auch fuer die Inhalte danach. Die Plattform macht diesen Kreis erreichbar und ermoeglicht eine fachlich passende Anschlusskommunikation.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Robo-Themen sind bewusst den Vortraegen der Medienfruehstuecke vorbehalten. Sie sind keine beliebige Newsrubrik, sondern eine redaktionelle Verlaengerung der Veranstaltungen. Aus einem Vortrag entsteht ein dauerhaft auffindbarer Fachbeitrag. Das staerkt die Sichtbarkeit der Inhalte, gibt den Referenten mehr Reichweite und macht die Medienfruehstuecke auch fuer Menschen interessant, die nicht live teilnehmen konnten. So wird das Event zu einem nachhaltigen Wissensformat.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Referenten sind nicht nur Namen in einem Programm. Die Plattform gibt ihnen eine eigene Buehne: mit Foto, Vita, Unternehmen, Funktion, Vortragstitel und Verknuepfung zum jeweiligen Event. Das ist fuer die Aussendarstellung wichtig, weil Kompetenz sichtbar wird. Gleichzeitig entsteht fuer PROdigitalTV ein wachsendes Netzwerk aus fachlichen Koepfen, Themen und Institutionen. Die Referentenprofile machen deutlich, wer die Inhalte traegt und welche Expertise hinter den Veranstaltungen steht.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redaktionellen Bereich werden News, Themen und Rueckblicke gebuendelt. Die Redaktion kann Inhalte erstellen, bearbeiten, pruefen und veroeffentlichen. Wichtig ist dabei: Die Plattform soll die Redaktion nicht ersetzen, sondern ihr bessere Werkzeuge geben. Inhalte koennen strukturiert gepflegt, mit Medien verbunden und fuer verschiedene Ausspielungen vorbereitet werden. So entsteht eine professionelle redaktionelle Arbeitsweise, die zugleich effizienter und konsistenter wird.</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Zur redaktionellen Arbeit gehoeren heute nicht nur Texte. Galerien, PDF-Dokumente, Videos, Audiodateien und Thumbnails sind feste Bestandteile professioneller Medienkommunikation. Die Plattform soll diese Medien nicht nur speichern, sondern sinnvoll zuordnen: zu News, Rueckblicken, Events, Referenten oder Mitgliederinformationen. Dadurch koennen Inhalte hochwertiger praesentiert werden, und die Redaktion behaelt den Ueberblick, welches Material wo eingesetzt wird.</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Bildworkflow ist besonders wichtig, weil gute Bilder ueber die Qualitaet der Webseite entscheiden. Upload, Crop, WebP-Varianten und Thumbnail-Erstellung muessen zusammenlaufen. Bei Vortraegen, Referenten und Logos sollen die benoetigten Varianten moeglichst direkt nach dem Upload entstehen und passend zugeordnet werden. Gleichzeitig braucht die Redaktion Hinweise, wenn ein Bild zu klein ist oder fuer eine bestimmte Nutzung nicht ausreicht. Das verbessert Qualitaet und Ladezeiten.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Vorleser-Funktion ist ein eigener Beitrag zur Barrierefreiheit. Artikel koennen mit sehr natuerlich klingenden Stimmen auf dem neuesten Stand der Sprachtechnologie vorgelesen werden. Das hilft Menschen, die Inhalte lieber hoeren, unterwegs sind oder beim Lesen eingeschraenkt sind. Die Karaoke- beziehungsweise Mitlesefunktion hebt den gesprochenen Text sichtbar hervor und verbessert Orientierung und Verstaendlichkeit. Damit wird aus einem Text ein zugaenglicheres Medienangebot.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 kann die Redaktion sinnvoll unterstuetzen, aber sie ersetzt sie nicht. Das ist ein wichtiger Punkt. Die redaktionelle Verantwortung bleibt beim Menschen. KI hilft bei Formulierungen, Rechtschreibung, Strukturierung und der Erstellung von Artikelbildern. Die Auswahl, Bewertung, Quellenpruefung und Freigabe liegen weiterhin bei der Redaktion. Genau dadurch entsteht ein verantwortungsvoller Einsatz: schneller und hilfreicher, aber nicht automatisch oder ungeprueft.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Mitgliederbereich erweitert die oeffentliche Webseite um geschuetzte Funktionen. Mitglieder koennen interne Inhalte sehen, Mitgliederevents finden, Dokumente abrufen, ihr Profil pflegen und Kontaktinformationen nutzen. Gerade mobil ist das wichtig, weil viele dieser Situationen unterwegs entstehen. Der Mitgliederbereich soll deshalb kein schwerfaelliges CMS sein, sondern ein zuganglicher Bereich innerhalb der Web-App, der relevante Funktionen schnell verfuegbar macht.</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Foto-Upload geht es um Beteiligung ohne Kontrollverlust. Mitglieder koennen waehrend oder nach einer Veranstaltung Bilder hochladen. Diese Bilder werden aber nicht automatisch oeffentlich ausgespielt. Die Redaktion prueft, sortiert, entscheidet und ordnet das Material Rueckblicken oder Galerien zu. So kann die Community zur Dokumentation beitragen, waehrend die redaktionelle Qualitaet und rechtliche Sorgfalt erhalten bleiben.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Qualitaetssicherung bedeutet, Fehler zu erkennen, bevor sie auf der Webseite sichtbar werden. Das CMS soll Hinweise geben, wenn Bilder, Thumbnails, Alt-Texte, Links, Galerien, Video-Poster oder Medienzuordnungen fehlen. Auch Status und Sichtbarkeit muessen klar nachvollziehbar sein. Gerade wenn viele Inhalte parallel entstehen, ist diese Form der Kontrolle entscheidend. Sie verhindert leere Seiten, falsche Darstellungen und unvollstaendige Veroeffentlichungen.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Datensicherheit und organisatorische Sicherheit gehoeren zusammen. Beim Loeschen ganzer Datensaetze sollte immer eine Bestaetigung erfolgen, damit nicht versehentlich Vortraege, Referenten, Events oder Anmeldungen verschwinden. Gleichzeitig muss die Statuslogik sauber sein: Entwurf, aktiv, archiviert, sichtbar, storniert oder geloescht muessen eindeutig wirken. GitHub, Dropbox und Deploy-Prozesse ergaenzen diese Sicherheit, weil Arbeitsstaende nachvollziehbar und wiederherstellbar bleiben.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Betriebsmodell zeigt, dass ein Event kein einzelner Termin ist, sondern ein dauerhafter Kommunikationsanlass. Vor dem Event geht es um Einladung, Anmeldung und Ticket. Beim Event geht es um Check-in, Begruessung und Dokumentation. Nach dem Event geht es um Rueckblick, Robo-Themen und Nachkommunikation. Diese drei Phasen greifen ineinander. Genau dadurch entsteht der groesste Nutzen: Inhalte und Kontakte bleiben nach der Veranstaltung weiter aktiv.</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Zusammengefasst wird PROdigitalTV mit dieser Plattform zu einer digitalen Infrastruktur des Vereins. Sie macht Veranstaltungen professioneller, Referenten sichtbarer, Inhalte nachhaltiger und Mitgliederkommunikation direkter. Der Kern ist nicht eine einzelne Funktion, sondern die Verbindung vieler Bausteine zu einem durchgaengigen System. So kann PROdigitalTV seine Rolle als Mediennetzwerk staerken und gleichzeitig die praktische Arbeit in Redaktion, Eventorganisation und Kommunikation deutlich erleichtern.</a:t>
            </a:r>
          </a:p>
          <a:p xmlns:a="http://schemas.openxmlformats.org/drawingml/2006/main">
            <a:r>
              <a:t/>
            </a:r>
          </a:p>
          <a:p xmlns:a="http://schemas.openxmlformats.org/drawingml/2006/main">
            <a:r>
              <a:t>[Sources]</a:t>
            </a:r>
          </a:p>
          <a:p xmlns:a="http://schemas.openxmlformats.org/drawingml/2006/main">
            <a:r>
              <a:t>Interne PROdigitalTV Funktionsbeschreibung, Stand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a39747b81c48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0724d5be34578" /><Relationship Type="http://schemas.openxmlformats.org/officeDocument/2006/relationships/slideLayout" Target="/ppt/slideLayouts/slideLayout1.xml" Id="Re829d99bbcbd45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29d99bbcbd45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6daace95d24f6e" /><Relationship Type="http://schemas.openxmlformats.org/officeDocument/2006/relationships/image" Target="/ppt/media/image.png" Id="R75b0e38e98374a35" /><Relationship Type="http://schemas.openxmlformats.org/officeDocument/2006/relationships/notesSlide" Target="/ppt/notesSlides/notesSlide1.xml" Id="R142dd20799914b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711460574c447e" /><Relationship Type="http://schemas.openxmlformats.org/officeDocument/2006/relationships/notesSlide" Target="/ppt/notesSlides/notesSlide2.xml" Id="Rbc18d29737dd44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0ea7428ae64e78" /><Relationship Type="http://schemas.openxmlformats.org/officeDocument/2006/relationships/notesSlide" Target="/ppt/notesSlides/notesSlide3.xml" Id="Rf4363bc2e2ca47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af6bc63a6645f4" /><Relationship Type="http://schemas.openxmlformats.org/officeDocument/2006/relationships/notesSlide" Target="/ppt/notesSlides/notesSlide4.xml" Id="Rae855f03382548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9eedb6e39e4369" /><Relationship Type="http://schemas.openxmlformats.org/officeDocument/2006/relationships/notesSlide" Target="/ppt/notesSlides/notesSlide5.xml" Id="R40d13c306d114d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35bbb102ee4015" /><Relationship Type="http://schemas.openxmlformats.org/officeDocument/2006/relationships/notesSlide" Target="/ppt/notesSlides/notesSlide6.xml" Id="Rd013063661e34b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eafad96f1246f7" /><Relationship Type="http://schemas.openxmlformats.org/officeDocument/2006/relationships/notesSlide" Target="/ppt/notesSlides/notesSlide7.xml" Id="R6a2ddba16f3341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6ae9d0b4544a40" /><Relationship Type="http://schemas.openxmlformats.org/officeDocument/2006/relationships/notesSlide" Target="/ppt/notesSlides/notesSlide8.xml" Id="Rea45de058c5547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71a9f8f5a0403b" /><Relationship Type="http://schemas.openxmlformats.org/officeDocument/2006/relationships/notesSlide" Target="/ppt/notesSlides/notesSlide9.xml" Id="R191d00e3d9604c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075313c3ef44ca" /><Relationship Type="http://schemas.openxmlformats.org/officeDocument/2006/relationships/notesSlide" Target="/ppt/notesSlides/notesSlide10.xml" Id="R1b9952d1ce1643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f0fe8d0dd94be2" /><Relationship Type="http://schemas.openxmlformats.org/officeDocument/2006/relationships/notesSlide" Target="/ppt/notesSlides/notesSlide11.xml" Id="R0d4ca2a05a7a45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1d305f598944a5" /><Relationship Type="http://schemas.openxmlformats.org/officeDocument/2006/relationships/notesSlide" Target="/ppt/notesSlides/notesSlide12.xml" Id="Rb8ec003432514c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f43ab742894488" /><Relationship Type="http://schemas.openxmlformats.org/officeDocument/2006/relationships/notesSlide" Target="/ppt/notesSlides/notesSlide13.xml" Id="R980b6d89860444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80417d5477482e" /><Relationship Type="http://schemas.openxmlformats.org/officeDocument/2006/relationships/notesSlide" Target="/ppt/notesSlides/notesSlide14.xml" Id="Rcda93a66dc4b4a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1376c413b54509" /><Relationship Type="http://schemas.openxmlformats.org/officeDocument/2006/relationships/notesSlide" Target="/ppt/notesSlides/notesSlide15.xml" Id="R8e22f39addb940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6bfd557e054dff" /><Relationship Type="http://schemas.openxmlformats.org/officeDocument/2006/relationships/notesSlide" Target="/ppt/notesSlides/notesSlide16.xml" Id="Rb2ebc87f011e43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6ddc76c3cf4b8e" /><Relationship Type="http://schemas.openxmlformats.org/officeDocument/2006/relationships/notesSlide" Target="/ppt/notesSlides/notesSlide17.xml" Id="R117c6e36c27d46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f0af4580524823" /><Relationship Type="http://schemas.openxmlformats.org/officeDocument/2006/relationships/notesSlide" Target="/ppt/notesSlides/notesSlide18.xml" Id="R19ed39ee1ea34d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22dcca376eb4bcf" /><Relationship Type="http://schemas.openxmlformats.org/officeDocument/2006/relationships/notesSlide" Target="/ppt/notesSlides/notesSlide19.xml" Id="R77626ffe6c804f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b4ebc3a4ca4a05" /><Relationship Type="http://schemas.openxmlformats.org/officeDocument/2006/relationships/notesSlide" Target="/ppt/notesSlides/notesSlide20.xml" Id="Rde228306a56b4f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10657c1c4d4e11" /><Relationship Type="http://schemas.openxmlformats.org/officeDocument/2006/relationships/notesSlide" Target="/ppt/notesSlides/notesSlide21.xml" Id="R0e8aaace49e54b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7d5658b2f64452c" /><Relationship Type="http://schemas.openxmlformats.org/officeDocument/2006/relationships/notesSlide" Target="/ppt/notesSlides/notesSlide22.xml" Id="R71d8a80a086848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c5a609a4754c74" /><Relationship Type="http://schemas.openxmlformats.org/officeDocument/2006/relationships/notesSlide" Target="/ppt/notesSlides/notesSlide23.xml" Id="Rbb6d9b32407047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07a070f7a4145bc" /><Relationship Type="http://schemas.openxmlformats.org/officeDocument/2006/relationships/notesSlide" Target="/ppt/notesSlides/notesSlide24.xml" Id="R9d463cff57e7422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8261abc4c9b4580" /><Relationship Type="http://schemas.openxmlformats.org/officeDocument/2006/relationships/notesSlide" Target="/ppt/notesSlides/notesSlide25.xml" Id="R4f306776ab8c496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5b0e38e98374a35"/>
          <a:stretch xmlns:a="http://schemas.openxmlformats.org/drawingml/2006/main"/>
        </p:blipFill>
        <p:spPr>
          <a:xfrm xmlns:a="http://schemas.openxmlformats.org/drawingml/2006/main">
            <a:off x="685800" y="600963"/>
            <a:ext cx="2762250" cy="55067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6E1310-09FB-4734-BF2D-340F1430F028}"/>
              </a:ext>
            </a:extLst>
          </p:cNvPr>
          <p:cNvSpPr>
            <a:spLocks xmlns:a="http://schemas.openxmlformats.org/drawingml/2006/main" noGrp="1"/>
          </p:cNvSpPr>
          <p:nvPr/>
        </p:nvSpPr>
        <p:spPr>
          <a:xfrm xmlns:a="http://schemas.openxmlformats.org/drawingml/2006/main">
            <a:off x="685800" y="20002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071A33"/>
                </a:solidFill>
              </a:defRPr>
            </a:pPr>
            <a:r>
              <a:rPr sz="4050" b="1">
                <a:solidFill>
                  <a:srgbClr val="071A33"/>
                </a:solidFill>
              </a:rPr>
              <a:t>Funktionsbeschreibung der Plattform</a:t>
            </a:r>
          </a:p>
        </p:txBody>
      </p:sp>
      <p:sp>
        <p:nvSpPr>
          <p:cNvPr id="3" name="">
            <a:extLst xmlns:a="http://schemas.openxmlformats.org/drawingml/2006/main">
              <a:ext uri="{FF2B5EF4-FFF2-40B4-BE49-F238E27FC236}">
                <a16:creationId xmlns:a16="http://schemas.microsoft.com/office/drawing/2014/main" id="{498D877B-6A2E-4C5A-9F03-E9E7988187F7}"/>
              </a:ext>
            </a:extLst>
          </p:cNvPr>
          <p:cNvSpPr>
            <a:spLocks xmlns:a="http://schemas.openxmlformats.org/drawingml/2006/main" noGrp="1"/>
          </p:cNvSpPr>
          <p:nvPr/>
        </p:nvSpPr>
        <p:spPr>
          <a:xfrm xmlns:a="http://schemas.openxmlformats.org/drawingml/2006/main">
            <a:off x="685800" y="2971800"/>
            <a:ext cx="1123950" cy="57150"/>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prstDash val="solid"/>
          </a:ln>
        </p:spPr>
      </p:sp>
      <p:sp>
        <p:nvSpPr>
          <p:cNvPr id="4" name="">
            <a:extLst xmlns:a="http://schemas.openxmlformats.org/drawingml/2006/main">
              <a:ext uri="{FF2B5EF4-FFF2-40B4-BE49-F238E27FC236}">
                <a16:creationId xmlns:a16="http://schemas.microsoft.com/office/drawing/2014/main" id="{6C542269-266C-4DED-B18F-F7E30CA98415}"/>
              </a:ext>
            </a:extLst>
          </p:cNvPr>
          <p:cNvSpPr>
            <a:spLocks xmlns:a="http://schemas.openxmlformats.org/drawingml/2006/main" noGrp="1"/>
          </p:cNvSpPr>
          <p:nvPr/>
        </p:nvSpPr>
        <p:spPr>
          <a:xfrm xmlns:a="http://schemas.openxmlformats.org/drawingml/2006/main">
            <a:off x="685800" y="3333750"/>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5E6B7F"/>
                </a:solidFill>
              </a:defRPr>
            </a:pPr>
            <a:r>
              <a:rPr sz="1950" b="0">
                <a:solidFill>
                  <a:srgbClr val="5E6B7F"/>
                </a:solidFill>
              </a:rPr>
              <a:t>Mobile-first Web-App, Eventsteuerung, Redaktion, Mitgliederbereich und professionelle Veranstaltungsdurchfuehrung.</a:t>
            </a:r>
          </a:p>
        </p:txBody>
      </p:sp>
      <p:sp>
        <p:nvSpPr>
          <p:cNvPr id="5" name="">
            <a:extLst xmlns:a="http://schemas.openxmlformats.org/drawingml/2006/main">
              <a:ext uri="{FF2B5EF4-FFF2-40B4-BE49-F238E27FC236}">
                <a16:creationId xmlns:a16="http://schemas.microsoft.com/office/drawing/2014/main" id="{F3A43C5F-9D30-49EC-837E-7F8151B25720}"/>
              </a:ext>
            </a:extLst>
          </p:cNvPr>
          <p:cNvSpPr>
            <a:spLocks xmlns:a="http://schemas.openxmlformats.org/drawingml/2006/main" noGrp="1"/>
          </p:cNvSpPr>
          <p:nvPr/>
        </p:nvSpPr>
        <p:spPr>
          <a:xfrm xmlns:a="http://schemas.openxmlformats.org/drawingml/2006/main">
            <a:off x="685800" y="5810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E6B7F"/>
                </a:solidFill>
              </a:defRPr>
            </a:pPr>
            <a:r>
              <a:rPr sz="1200" b="0">
                <a:solidFill>
                  <a:srgbClr val="5E6B7F"/>
                </a:solidFill>
              </a:rPr>
              <a:t>Konzeptpraesentation | Stand August 2026</a:t>
            </a:r>
          </a:p>
        </p:txBody>
      </p:sp>
    </p:spTree>
    <p:extLst>
      <p:ext uri="{BB962C8B-B14F-4D97-AF65-F5344CB8AC3E}">
        <p14:creationId xmlns:p14="http://schemas.microsoft.com/office/powerpoint/2010/main" val="1373159308"/>
      </p:ext>
    </p:extLst>
  </p:cSld>
</p:sld>
</file>

<file path=ppt/slides/slide2.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8FA4C28-14CE-451F-B554-95ECAAA4A79C}"/>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ZIELBILD</a:t>
            </a:r>
          </a:p>
        </p:txBody>
      </p:sp>
      <p:sp>
        <p:nvSpPr>
          <p:cNvPr id="2" name="">
            <a:extLst xmlns:a="http://schemas.openxmlformats.org/drawingml/2006/main">
              <a:ext uri="{FF2B5EF4-FFF2-40B4-BE49-F238E27FC236}">
                <a16:creationId xmlns:a16="http://schemas.microsoft.com/office/drawing/2014/main" id="{12A076F6-AF9D-48B2-A756-4BF053857C4D}"/>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Eine Plattform fuer den gesamten Kommunikationskreislauf</a:t>
            </a:r>
          </a:p>
        </p:txBody>
      </p:sp>
      <p:sp>
        <p:nvSpPr>
          <p:cNvPr id="3" name="">
            <a:extLst xmlns:a="http://schemas.openxmlformats.org/drawingml/2006/main">
              <a:ext uri="{FF2B5EF4-FFF2-40B4-BE49-F238E27FC236}">
                <a16:creationId xmlns:a16="http://schemas.microsoft.com/office/drawing/2014/main" id="{4CA9196E-97B5-4F0C-B12C-6C54505ED159}"/>
              </a:ext>
            </a:extLst>
          </p:cNvPr>
          <p:cNvSpPr>
            <a:spLocks xmlns:a="http://schemas.openxmlformats.org/drawingml/2006/main" noGrp="1"/>
          </p:cNvSpPr>
          <p:nvPr/>
        </p:nvSpPr>
        <p:spPr>
          <a:xfrm xmlns:a="http://schemas.openxmlformats.org/drawingml/2006/main">
            <a:off x="685800" y="1714500"/>
            <a:ext cx="876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E6B7F"/>
                </a:solidFill>
              </a:defRPr>
            </a:pPr>
            <a:r>
              <a:rPr sz="1575" b="0">
                <a:solidFill>
                  <a:srgbClr val="5E6B7F"/>
                </a:solidFill>
              </a:rPr>
              <a:t>PROdigitalTV verbindet Webseite, CMS, Events, Redaktion, Mitgliederbereich und Medienverwaltung.</a:t>
            </a:r>
          </a:p>
        </p:txBody>
      </p:sp>
      <p:sp>
        <p:nvSpPr>
          <p:cNvPr id="4" name="">
            <a:extLst xmlns:a="http://schemas.openxmlformats.org/drawingml/2006/main">
              <a:ext uri="{FF2B5EF4-FFF2-40B4-BE49-F238E27FC236}">
                <a16:creationId xmlns:a16="http://schemas.microsoft.com/office/drawing/2014/main" id="{8D7D3D37-69AB-47D5-8324-70B429643EA6}"/>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5" name="">
            <a:extLst xmlns:a="http://schemas.openxmlformats.org/drawingml/2006/main">
              <a:ext uri="{FF2B5EF4-FFF2-40B4-BE49-F238E27FC236}">
                <a16:creationId xmlns:a16="http://schemas.microsoft.com/office/drawing/2014/main" id="{127A089F-D6D8-490C-A361-1F552EAECB37}"/>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02</a:t>
            </a:r>
          </a:p>
        </p:txBody>
      </p:sp>
      <p:sp>
        <p:nvSpPr>
          <p:cNvPr id="6" name="">
            <a:extLst xmlns:a="http://schemas.openxmlformats.org/drawingml/2006/main">
              <a:ext uri="{FF2B5EF4-FFF2-40B4-BE49-F238E27FC236}">
                <a16:creationId xmlns:a16="http://schemas.microsoft.com/office/drawing/2014/main" id="{2A05FCB5-19A0-4B23-B5BC-4FDB7C459125}"/>
              </a:ext>
            </a:extLst>
          </p:cNvPr>
          <p:cNvSpPr>
            <a:spLocks xmlns:a="http://schemas.openxmlformats.org/drawingml/2006/main" noGrp="1"/>
          </p:cNvSpPr>
          <p:nvPr/>
        </p:nvSpPr>
        <p:spPr>
          <a:xfrm xmlns:a="http://schemas.openxmlformats.org/drawingml/2006/main">
            <a:off x="1047750" y="28479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1E98A077-9432-4F03-96D6-410E9EEF56AA}"/>
              </a:ext>
            </a:extLst>
          </p:cNvPr>
          <p:cNvSpPr>
            <a:spLocks xmlns:a="http://schemas.openxmlformats.org/drawingml/2006/main" noGrp="1"/>
          </p:cNvSpPr>
          <p:nvPr/>
        </p:nvSpPr>
        <p:spPr>
          <a:xfrm xmlns:a="http://schemas.openxmlformats.org/drawingml/2006/main">
            <a:off x="1295400" y="2762250"/>
            <a:ext cx="908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B3B52"/>
                </a:solidFill>
              </a:defRPr>
            </a:pPr>
            <a:r>
              <a:rPr sz="1800" b="0">
                <a:solidFill>
                  <a:srgbClr val="2B3B52"/>
                </a:solidFill>
              </a:rPr>
              <a:t>Events planen, bewerben und nachbereiten</a:t>
            </a:r>
          </a:p>
        </p:txBody>
      </p:sp>
      <p:sp>
        <p:nvSpPr>
          <p:cNvPr id="8" name="">
            <a:extLst xmlns:a="http://schemas.openxmlformats.org/drawingml/2006/main">
              <a:ext uri="{FF2B5EF4-FFF2-40B4-BE49-F238E27FC236}">
                <a16:creationId xmlns:a16="http://schemas.microsoft.com/office/drawing/2014/main" id="{3936E7CD-1ADC-4FE4-A459-08333D3119CD}"/>
              </a:ext>
            </a:extLst>
          </p:cNvPr>
          <p:cNvSpPr>
            <a:spLocks xmlns:a="http://schemas.openxmlformats.org/drawingml/2006/main" noGrp="1"/>
          </p:cNvSpPr>
          <p:nvPr/>
        </p:nvSpPr>
        <p:spPr>
          <a:xfrm xmlns:a="http://schemas.openxmlformats.org/drawingml/2006/main">
            <a:off x="1047750" y="33813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9" name="">
            <a:extLst xmlns:a="http://schemas.openxmlformats.org/drawingml/2006/main">
              <a:ext uri="{FF2B5EF4-FFF2-40B4-BE49-F238E27FC236}">
                <a16:creationId xmlns:a16="http://schemas.microsoft.com/office/drawing/2014/main" id="{0FA700E7-24EB-45D7-B015-89D59FAC2B3B}"/>
              </a:ext>
            </a:extLst>
          </p:cNvPr>
          <p:cNvSpPr>
            <a:spLocks xmlns:a="http://schemas.openxmlformats.org/drawingml/2006/main" noGrp="1"/>
          </p:cNvSpPr>
          <p:nvPr/>
        </p:nvSpPr>
        <p:spPr>
          <a:xfrm xmlns:a="http://schemas.openxmlformats.org/drawingml/2006/main">
            <a:off x="1295400" y="3295650"/>
            <a:ext cx="908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B3B52"/>
                </a:solidFill>
              </a:defRPr>
            </a:pPr>
            <a:r>
              <a:rPr sz="1800" b="0">
                <a:solidFill>
                  <a:srgbClr val="2B3B52"/>
                </a:solidFill>
              </a:rPr>
              <a:t>Teilnehmer digital anmelden und begleiten</a:t>
            </a:r>
          </a:p>
        </p:txBody>
      </p:sp>
      <p:sp>
        <p:nvSpPr>
          <p:cNvPr id="10" name="">
            <a:extLst xmlns:a="http://schemas.openxmlformats.org/drawingml/2006/main">
              <a:ext uri="{FF2B5EF4-FFF2-40B4-BE49-F238E27FC236}">
                <a16:creationId xmlns:a16="http://schemas.microsoft.com/office/drawing/2014/main" id="{2606BAF7-9E1B-46B9-84FD-E26440CFA78F}"/>
              </a:ext>
            </a:extLst>
          </p:cNvPr>
          <p:cNvSpPr>
            <a:spLocks xmlns:a="http://schemas.openxmlformats.org/drawingml/2006/main" noGrp="1"/>
          </p:cNvSpPr>
          <p:nvPr/>
        </p:nvSpPr>
        <p:spPr>
          <a:xfrm xmlns:a="http://schemas.openxmlformats.org/drawingml/2006/main">
            <a:off x="1047750" y="39147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1" name="">
            <a:extLst xmlns:a="http://schemas.openxmlformats.org/drawingml/2006/main">
              <a:ext uri="{FF2B5EF4-FFF2-40B4-BE49-F238E27FC236}">
                <a16:creationId xmlns:a16="http://schemas.microsoft.com/office/drawing/2014/main" id="{90E9E75A-5D15-4C50-9628-30E3D06B87A2}"/>
              </a:ext>
            </a:extLst>
          </p:cNvPr>
          <p:cNvSpPr>
            <a:spLocks xmlns:a="http://schemas.openxmlformats.org/drawingml/2006/main" noGrp="1"/>
          </p:cNvSpPr>
          <p:nvPr/>
        </p:nvSpPr>
        <p:spPr>
          <a:xfrm xmlns:a="http://schemas.openxmlformats.org/drawingml/2006/main">
            <a:off x="1295400" y="3829050"/>
            <a:ext cx="908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B3B52"/>
                </a:solidFill>
              </a:defRPr>
            </a:pPr>
            <a:r>
              <a:rPr sz="1800" b="0">
                <a:solidFill>
                  <a:srgbClr val="2B3B52"/>
                </a:solidFill>
              </a:rPr>
              <a:t>Redaktionelle Inhalte dauerhaft nutzbar machen</a:t>
            </a:r>
          </a:p>
        </p:txBody>
      </p:sp>
      <p:sp>
        <p:nvSpPr>
          <p:cNvPr id="12" name="">
            <a:extLst xmlns:a="http://schemas.openxmlformats.org/drawingml/2006/main">
              <a:ext uri="{FF2B5EF4-FFF2-40B4-BE49-F238E27FC236}">
                <a16:creationId xmlns:a16="http://schemas.microsoft.com/office/drawing/2014/main" id="{74C2F803-23F4-44A6-A911-0B36DED67967}"/>
              </a:ext>
            </a:extLst>
          </p:cNvPr>
          <p:cNvSpPr>
            <a:spLocks xmlns:a="http://schemas.openxmlformats.org/drawingml/2006/main" noGrp="1"/>
          </p:cNvSpPr>
          <p:nvPr/>
        </p:nvSpPr>
        <p:spPr>
          <a:xfrm xmlns:a="http://schemas.openxmlformats.org/drawingml/2006/main">
            <a:off x="1047750" y="44481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3" name="">
            <a:extLst xmlns:a="http://schemas.openxmlformats.org/drawingml/2006/main">
              <a:ext uri="{FF2B5EF4-FFF2-40B4-BE49-F238E27FC236}">
                <a16:creationId xmlns:a16="http://schemas.microsoft.com/office/drawing/2014/main" id="{C138BC36-CBF4-4FE4-BE2A-5D558D033118}"/>
              </a:ext>
            </a:extLst>
          </p:cNvPr>
          <p:cNvSpPr>
            <a:spLocks xmlns:a="http://schemas.openxmlformats.org/drawingml/2006/main" noGrp="1"/>
          </p:cNvSpPr>
          <p:nvPr/>
        </p:nvSpPr>
        <p:spPr>
          <a:xfrm xmlns:a="http://schemas.openxmlformats.org/drawingml/2006/main">
            <a:off x="1295400" y="4362450"/>
            <a:ext cx="908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B3B52"/>
                </a:solidFill>
              </a:defRPr>
            </a:pPr>
            <a:r>
              <a:rPr sz="1800" b="0">
                <a:solidFill>
                  <a:srgbClr val="2B3B52"/>
                </a:solidFill>
              </a:rPr>
              <a:t>Mitgliederbereich und interne Kommunikation staerken</a:t>
            </a:r>
          </a:p>
        </p:txBody>
      </p:sp>
    </p:spTree>
    <p:extLst>
      <p:ext uri="{BB962C8B-B14F-4D97-AF65-F5344CB8AC3E}">
        <p14:creationId xmlns:p14="http://schemas.microsoft.com/office/powerpoint/2010/main" val="1094197342"/>
      </p:ext>
    </p:extLst>
  </p:cSld>
</p:sld>
</file>

<file path=ppt/slides/slide3.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56CA51E-7A41-4807-A1D8-A2027C4A21BF}"/>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HIGHLIGHTS</a:t>
            </a:r>
          </a:p>
        </p:txBody>
      </p:sp>
      <p:sp>
        <p:nvSpPr>
          <p:cNvPr id="2" name="">
            <a:extLst xmlns:a="http://schemas.openxmlformats.org/drawingml/2006/main">
              <a:ext uri="{FF2B5EF4-FFF2-40B4-BE49-F238E27FC236}">
                <a16:creationId xmlns:a16="http://schemas.microsoft.com/office/drawing/2014/main" id="{4E09C2DE-CBA5-4B26-B2B8-AE6CDFAA2119}"/>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Die wichtigsten Staerken auf einen Blick</a:t>
            </a:r>
          </a:p>
        </p:txBody>
      </p:sp>
      <p:sp>
        <p:nvSpPr>
          <p:cNvPr id="3" name="">
            <a:extLst xmlns:a="http://schemas.openxmlformats.org/drawingml/2006/main">
              <a:ext uri="{FF2B5EF4-FFF2-40B4-BE49-F238E27FC236}">
                <a16:creationId xmlns:a16="http://schemas.microsoft.com/office/drawing/2014/main" id="{80FF9B17-7C85-4AF6-9B09-BDE481D6BB12}"/>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908BE5BA-710F-42D0-96BB-774ADB528CBC}"/>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03</a:t>
            </a:r>
          </a:p>
        </p:txBody>
      </p:sp>
      <p:sp>
        <p:nvSpPr>
          <p:cNvPr id="5" name="">
            <a:extLst xmlns:a="http://schemas.openxmlformats.org/drawingml/2006/main">
              <a:ext uri="{FF2B5EF4-FFF2-40B4-BE49-F238E27FC236}">
                <a16:creationId xmlns:a16="http://schemas.microsoft.com/office/drawing/2014/main" id="{77075225-AC3A-4E82-87B2-A5475B8D1FF5}"/>
              </a:ext>
            </a:extLst>
          </p:cNvPr>
          <p:cNvSpPr>
            <a:spLocks xmlns:a="http://schemas.openxmlformats.org/drawingml/2006/main" noGrp="1"/>
          </p:cNvSpPr>
          <p:nvPr/>
        </p:nvSpPr>
        <p:spPr>
          <a:xfrm xmlns:a="http://schemas.openxmlformats.org/drawingml/2006/main">
            <a:off x="685800" y="2095500"/>
            <a:ext cx="3333750" cy="1476375"/>
          </a:xfrm>
          <a:prstGeom xmlns:a="http://schemas.openxmlformats.org/drawingml/2006/main" prst="roundRect">
            <a:avLst>
              <a:gd name="adj" fmla="val 7742"/>
            </a:avLst>
          </a:prstGeom>
          <a:solidFill xmlns:a="http://schemas.openxmlformats.org/drawingml/2006/main">
            <a:srgbClr val="EEF5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A0D44655-D8A5-40CA-AC4C-E5EA38B4782B}"/>
              </a:ext>
            </a:extLst>
          </p:cNvPr>
          <p:cNvSpPr>
            <a:spLocks xmlns:a="http://schemas.openxmlformats.org/drawingml/2006/main" noGrp="1"/>
          </p:cNvSpPr>
          <p:nvPr/>
        </p:nvSpPr>
        <p:spPr>
          <a:xfrm xmlns:a="http://schemas.openxmlformats.org/drawingml/2006/main">
            <a:off x="895350" y="2305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9AFEFF43-7A0F-42C2-B286-05B674D8C79E}"/>
              </a:ext>
            </a:extLst>
          </p:cNvPr>
          <p:cNvSpPr>
            <a:spLocks xmlns:a="http://schemas.openxmlformats.org/drawingml/2006/main" noGrp="1"/>
          </p:cNvSpPr>
          <p:nvPr/>
        </p:nvSpPr>
        <p:spPr>
          <a:xfrm xmlns:a="http://schemas.openxmlformats.org/drawingml/2006/main">
            <a:off x="895350" y="2371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5ABB13B1-A2BD-4018-A2B2-FBF78678E7C0}"/>
              </a:ext>
            </a:extLst>
          </p:cNvPr>
          <p:cNvSpPr>
            <a:spLocks xmlns:a="http://schemas.openxmlformats.org/drawingml/2006/main" noGrp="1"/>
          </p:cNvSpPr>
          <p:nvPr/>
        </p:nvSpPr>
        <p:spPr>
          <a:xfrm xmlns:a="http://schemas.openxmlformats.org/drawingml/2006/main">
            <a:off x="142875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Events als Prozess</a:t>
            </a:r>
          </a:p>
        </p:txBody>
      </p:sp>
      <p:sp>
        <p:nvSpPr>
          <p:cNvPr id="9" name="">
            <a:extLst xmlns:a="http://schemas.openxmlformats.org/drawingml/2006/main">
              <a:ext uri="{FF2B5EF4-FFF2-40B4-BE49-F238E27FC236}">
                <a16:creationId xmlns:a16="http://schemas.microsoft.com/office/drawing/2014/main" id="{E40A9868-4BBD-4F6F-9452-293C98BC8E9D}"/>
              </a:ext>
            </a:extLst>
          </p:cNvPr>
          <p:cNvSpPr>
            <a:spLocks xmlns:a="http://schemas.openxmlformats.org/drawingml/2006/main" noGrp="1"/>
          </p:cNvSpPr>
          <p:nvPr/>
        </p:nvSpPr>
        <p:spPr>
          <a:xfrm xmlns:a="http://schemas.openxmlformats.org/drawingml/2006/main">
            <a:off x="1428750" y="2724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Planung, Einladung, Anmeldung, Check-in und Nachlauf bleiben verbunden.</a:t>
            </a:r>
          </a:p>
        </p:txBody>
      </p:sp>
      <p:sp>
        <p:nvSpPr>
          <p:cNvPr id="10" name="">
            <a:extLst xmlns:a="http://schemas.openxmlformats.org/drawingml/2006/main">
              <a:ext uri="{FF2B5EF4-FFF2-40B4-BE49-F238E27FC236}">
                <a16:creationId xmlns:a16="http://schemas.microsoft.com/office/drawing/2014/main" id="{80DBCC76-64A3-494A-A33B-2BF0016A7D85}"/>
              </a:ext>
            </a:extLst>
          </p:cNvPr>
          <p:cNvSpPr>
            <a:spLocks xmlns:a="http://schemas.openxmlformats.org/drawingml/2006/main" noGrp="1"/>
          </p:cNvSpPr>
          <p:nvPr/>
        </p:nvSpPr>
        <p:spPr>
          <a:xfrm xmlns:a="http://schemas.openxmlformats.org/drawingml/2006/main">
            <a:off x="4429125" y="2095500"/>
            <a:ext cx="3333750" cy="1476375"/>
          </a:xfrm>
          <a:prstGeom xmlns:a="http://schemas.openxmlformats.org/drawingml/2006/main" prst="roundRect">
            <a:avLst>
              <a:gd name="adj" fmla="val 7742"/>
            </a:avLst>
          </a:prstGeom>
          <a:solidFill xmlns:a="http://schemas.openxmlformats.org/drawingml/2006/main">
            <a:srgbClr val="FFFFFF"/>
          </a:solidFill>
          <a:ln xmlns:a="http://schemas.openxmlformats.org/drawingml/2006/main" w="9525">
            <a:solidFill>
              <a:srgbClr val="D9E4F2"/>
            </a:solidFill>
            <a:prstDash val="solid"/>
          </a:ln>
        </p:spPr>
      </p:sp>
      <p:sp>
        <p:nvSpPr>
          <p:cNvPr id="11" name="">
            <a:extLst xmlns:a="http://schemas.openxmlformats.org/drawingml/2006/main">
              <a:ext uri="{FF2B5EF4-FFF2-40B4-BE49-F238E27FC236}">
                <a16:creationId xmlns:a16="http://schemas.microsoft.com/office/drawing/2014/main" id="{3B608A9F-DC5F-4939-A78C-755A5AB6C445}"/>
              </a:ext>
            </a:extLst>
          </p:cNvPr>
          <p:cNvSpPr>
            <a:spLocks xmlns:a="http://schemas.openxmlformats.org/drawingml/2006/main" noGrp="1"/>
          </p:cNvSpPr>
          <p:nvPr/>
        </p:nvSpPr>
        <p:spPr>
          <a:xfrm xmlns:a="http://schemas.openxmlformats.org/drawingml/2006/main">
            <a:off x="4638675" y="2305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9DAD9732-B007-478C-93DC-CA7F039F454F}"/>
              </a:ext>
            </a:extLst>
          </p:cNvPr>
          <p:cNvSpPr>
            <a:spLocks xmlns:a="http://schemas.openxmlformats.org/drawingml/2006/main" noGrp="1"/>
          </p:cNvSpPr>
          <p:nvPr/>
        </p:nvSpPr>
        <p:spPr>
          <a:xfrm xmlns:a="http://schemas.openxmlformats.org/drawingml/2006/main">
            <a:off x="4638675" y="2371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1EBA4878-A390-47CE-9DE2-2F1996737D6C}"/>
              </a:ext>
            </a:extLst>
          </p:cNvPr>
          <p:cNvSpPr>
            <a:spLocks xmlns:a="http://schemas.openxmlformats.org/drawingml/2006/main" noGrp="1"/>
          </p:cNvSpPr>
          <p:nvPr/>
        </p:nvSpPr>
        <p:spPr>
          <a:xfrm xmlns:a="http://schemas.openxmlformats.org/drawingml/2006/main">
            <a:off x="5172075"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Referentenbuehne</a:t>
            </a:r>
          </a:p>
        </p:txBody>
      </p:sp>
      <p:sp>
        <p:nvSpPr>
          <p:cNvPr id="14" name="">
            <a:extLst xmlns:a="http://schemas.openxmlformats.org/drawingml/2006/main">
              <a:ext uri="{FF2B5EF4-FFF2-40B4-BE49-F238E27FC236}">
                <a16:creationId xmlns:a16="http://schemas.microsoft.com/office/drawing/2014/main" id="{7935B982-2CC4-4D45-B956-D90068895C60}"/>
              </a:ext>
            </a:extLst>
          </p:cNvPr>
          <p:cNvSpPr>
            <a:spLocks xmlns:a="http://schemas.openxmlformats.org/drawingml/2006/main" noGrp="1"/>
          </p:cNvSpPr>
          <p:nvPr/>
        </p:nvSpPr>
        <p:spPr>
          <a:xfrm xmlns:a="http://schemas.openxmlformats.org/drawingml/2006/main">
            <a:off x="5172075" y="2724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Vortraege werden zu sichtbaren Fachbeitraegen mit Foto, Vita und Kontext.</a:t>
            </a:r>
          </a:p>
        </p:txBody>
      </p:sp>
      <p:sp>
        <p:nvSpPr>
          <p:cNvPr id="15" name="">
            <a:extLst xmlns:a="http://schemas.openxmlformats.org/drawingml/2006/main">
              <a:ext uri="{FF2B5EF4-FFF2-40B4-BE49-F238E27FC236}">
                <a16:creationId xmlns:a16="http://schemas.microsoft.com/office/drawing/2014/main" id="{13D46E7C-3418-4231-92AD-C0777DBA0498}"/>
              </a:ext>
            </a:extLst>
          </p:cNvPr>
          <p:cNvSpPr>
            <a:spLocks xmlns:a="http://schemas.openxmlformats.org/drawingml/2006/main" noGrp="1"/>
          </p:cNvSpPr>
          <p:nvPr/>
        </p:nvSpPr>
        <p:spPr>
          <a:xfrm xmlns:a="http://schemas.openxmlformats.org/drawingml/2006/main">
            <a:off x="8172450" y="2095500"/>
            <a:ext cx="3333750" cy="1476375"/>
          </a:xfrm>
          <a:prstGeom xmlns:a="http://schemas.openxmlformats.org/drawingml/2006/main" prst="roundRect">
            <a:avLst>
              <a:gd name="adj" fmla="val 7742"/>
            </a:avLst>
          </a:prstGeom>
          <a:solidFill xmlns:a="http://schemas.openxmlformats.org/drawingml/2006/main">
            <a:srgbClr val="FFFFFF"/>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99601E0F-6139-46C1-A5E8-9C46AC373F4A}"/>
              </a:ext>
            </a:extLst>
          </p:cNvPr>
          <p:cNvSpPr>
            <a:spLocks xmlns:a="http://schemas.openxmlformats.org/drawingml/2006/main" noGrp="1"/>
          </p:cNvSpPr>
          <p:nvPr/>
        </p:nvSpPr>
        <p:spPr>
          <a:xfrm xmlns:a="http://schemas.openxmlformats.org/drawingml/2006/main">
            <a:off x="8382000" y="2305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7" name="">
            <a:extLst xmlns:a="http://schemas.openxmlformats.org/drawingml/2006/main">
              <a:ext uri="{FF2B5EF4-FFF2-40B4-BE49-F238E27FC236}">
                <a16:creationId xmlns:a16="http://schemas.microsoft.com/office/drawing/2014/main" id="{00FFDF0B-20C4-438F-932A-D285E4BA35EF}"/>
              </a:ext>
            </a:extLst>
          </p:cNvPr>
          <p:cNvSpPr>
            <a:spLocks xmlns:a="http://schemas.openxmlformats.org/drawingml/2006/main" noGrp="1"/>
          </p:cNvSpPr>
          <p:nvPr/>
        </p:nvSpPr>
        <p:spPr>
          <a:xfrm xmlns:a="http://schemas.openxmlformats.org/drawingml/2006/main">
            <a:off x="8382000" y="2371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976A37B3-260D-47DB-AB55-A17D67650488}"/>
              </a:ext>
            </a:extLst>
          </p:cNvPr>
          <p:cNvSpPr>
            <a:spLocks xmlns:a="http://schemas.openxmlformats.org/drawingml/2006/main" noGrp="1"/>
          </p:cNvSpPr>
          <p:nvPr/>
        </p:nvSpPr>
        <p:spPr>
          <a:xfrm xmlns:a="http://schemas.openxmlformats.org/drawingml/2006/main">
            <a:off x="8915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Redaktion plus Medien</a:t>
            </a:r>
          </a:p>
        </p:txBody>
      </p:sp>
      <p:sp>
        <p:nvSpPr>
          <p:cNvPr id="19" name="">
            <a:extLst xmlns:a="http://schemas.openxmlformats.org/drawingml/2006/main">
              <a:ext uri="{FF2B5EF4-FFF2-40B4-BE49-F238E27FC236}">
                <a16:creationId xmlns:a16="http://schemas.microsoft.com/office/drawing/2014/main" id="{88DF62F2-A268-4150-A7CC-A9AC07DE45D3}"/>
              </a:ext>
            </a:extLst>
          </p:cNvPr>
          <p:cNvSpPr>
            <a:spLocks xmlns:a="http://schemas.openxmlformats.org/drawingml/2006/main" noGrp="1"/>
          </p:cNvSpPr>
          <p:nvPr/>
        </p:nvSpPr>
        <p:spPr>
          <a:xfrm xmlns:a="http://schemas.openxmlformats.org/drawingml/2006/main">
            <a:off x="8915400" y="2724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News, Themen, Galerien, PDF, Video, Audio und Thumbs greifen zusammen.</a:t>
            </a:r>
          </a:p>
        </p:txBody>
      </p:sp>
      <p:sp>
        <p:nvSpPr>
          <p:cNvPr id="20" name="">
            <a:extLst xmlns:a="http://schemas.openxmlformats.org/drawingml/2006/main">
              <a:ext uri="{FF2B5EF4-FFF2-40B4-BE49-F238E27FC236}">
                <a16:creationId xmlns:a16="http://schemas.microsoft.com/office/drawing/2014/main" id="{0771D0B5-A6EA-471B-BD52-6251E9EB9DA8}"/>
              </a:ext>
            </a:extLst>
          </p:cNvPr>
          <p:cNvSpPr>
            <a:spLocks xmlns:a="http://schemas.openxmlformats.org/drawingml/2006/main" noGrp="1"/>
          </p:cNvSpPr>
          <p:nvPr/>
        </p:nvSpPr>
        <p:spPr>
          <a:xfrm xmlns:a="http://schemas.openxmlformats.org/drawingml/2006/main">
            <a:off x="685800" y="4000500"/>
            <a:ext cx="3333750" cy="1476375"/>
          </a:xfrm>
          <a:prstGeom xmlns:a="http://schemas.openxmlformats.org/drawingml/2006/main" prst="roundRect">
            <a:avLst>
              <a:gd name="adj" fmla="val 7742"/>
            </a:avLst>
          </a:prstGeom>
          <a:solidFill xmlns:a="http://schemas.openxmlformats.org/drawingml/2006/main">
            <a:srgbClr val="FFFFFF"/>
          </a:solidFill>
          <a:ln xmlns:a="http://schemas.openxmlformats.org/drawingml/2006/main" w="9525">
            <a:solidFill>
              <a:srgbClr val="D9E4F2"/>
            </a:solidFill>
            <a:prstDash val="solid"/>
          </a:ln>
        </p:spPr>
      </p:sp>
      <p:sp>
        <p:nvSpPr>
          <p:cNvPr id="21" name="">
            <a:extLst xmlns:a="http://schemas.openxmlformats.org/drawingml/2006/main">
              <a:ext uri="{FF2B5EF4-FFF2-40B4-BE49-F238E27FC236}">
                <a16:creationId xmlns:a16="http://schemas.microsoft.com/office/drawing/2014/main" id="{7B7AC2F3-D29D-4332-AC5F-661606ECF379}"/>
              </a:ext>
            </a:extLst>
          </p:cNvPr>
          <p:cNvSpPr>
            <a:spLocks xmlns:a="http://schemas.openxmlformats.org/drawingml/2006/main" noGrp="1"/>
          </p:cNvSpPr>
          <p:nvPr/>
        </p:nvSpPr>
        <p:spPr>
          <a:xfrm xmlns:a="http://schemas.openxmlformats.org/drawingml/2006/main">
            <a:off x="895350" y="4210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2" name="">
            <a:extLst xmlns:a="http://schemas.openxmlformats.org/drawingml/2006/main">
              <a:ext uri="{FF2B5EF4-FFF2-40B4-BE49-F238E27FC236}">
                <a16:creationId xmlns:a16="http://schemas.microsoft.com/office/drawing/2014/main" id="{70E72F6C-87FC-461F-A27B-AE72866C5475}"/>
              </a:ext>
            </a:extLst>
          </p:cNvPr>
          <p:cNvSpPr>
            <a:spLocks xmlns:a="http://schemas.openxmlformats.org/drawingml/2006/main" noGrp="1"/>
          </p:cNvSpPr>
          <p:nvPr/>
        </p:nvSpPr>
        <p:spPr>
          <a:xfrm xmlns:a="http://schemas.openxmlformats.org/drawingml/2006/main">
            <a:off x="895350" y="4276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3" name="">
            <a:extLst xmlns:a="http://schemas.openxmlformats.org/drawingml/2006/main">
              <a:ext uri="{FF2B5EF4-FFF2-40B4-BE49-F238E27FC236}">
                <a16:creationId xmlns:a16="http://schemas.microsoft.com/office/drawing/2014/main" id="{9FF33B5E-CF4B-47B9-94AB-5AE40E2AC31C}"/>
              </a:ext>
            </a:extLst>
          </p:cNvPr>
          <p:cNvSpPr>
            <a:spLocks xmlns:a="http://schemas.openxmlformats.org/drawingml/2006/main" noGrp="1"/>
          </p:cNvSpPr>
          <p:nvPr/>
        </p:nvSpPr>
        <p:spPr>
          <a:xfrm xmlns:a="http://schemas.openxmlformats.org/drawingml/2006/main">
            <a:off x="1428750" y="4210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Mail und Push</a:t>
            </a:r>
          </a:p>
        </p:txBody>
      </p:sp>
      <p:sp>
        <p:nvSpPr>
          <p:cNvPr id="24" name="">
            <a:extLst xmlns:a="http://schemas.openxmlformats.org/drawingml/2006/main">
              <a:ext uri="{FF2B5EF4-FFF2-40B4-BE49-F238E27FC236}">
                <a16:creationId xmlns:a16="http://schemas.microsoft.com/office/drawing/2014/main" id="{345CCF56-1024-410D-9ED3-102A499A1E77}"/>
              </a:ext>
            </a:extLst>
          </p:cNvPr>
          <p:cNvSpPr>
            <a:spLocks xmlns:a="http://schemas.openxmlformats.org/drawingml/2006/main" noGrp="1"/>
          </p:cNvSpPr>
          <p:nvPr/>
        </p:nvSpPr>
        <p:spPr>
          <a:xfrm xmlns:a="http://schemas.openxmlformats.org/drawingml/2006/main">
            <a:off x="1428750" y="4629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Einladungen, Erinnerungen und Nachkommunikation erreichen passende Zielgruppen.</a:t>
            </a:r>
          </a:p>
        </p:txBody>
      </p:sp>
      <p:sp>
        <p:nvSpPr>
          <p:cNvPr id="25" name="">
            <a:extLst xmlns:a="http://schemas.openxmlformats.org/drawingml/2006/main">
              <a:ext uri="{FF2B5EF4-FFF2-40B4-BE49-F238E27FC236}">
                <a16:creationId xmlns:a16="http://schemas.microsoft.com/office/drawing/2014/main" id="{E08DE272-0AB5-4D11-BE33-F4AC18B4AB60}"/>
              </a:ext>
            </a:extLst>
          </p:cNvPr>
          <p:cNvSpPr>
            <a:spLocks xmlns:a="http://schemas.openxmlformats.org/drawingml/2006/main" noGrp="1"/>
          </p:cNvSpPr>
          <p:nvPr/>
        </p:nvSpPr>
        <p:spPr>
          <a:xfrm xmlns:a="http://schemas.openxmlformats.org/drawingml/2006/main">
            <a:off x="4429125" y="4000500"/>
            <a:ext cx="3333750" cy="1476375"/>
          </a:xfrm>
          <a:prstGeom xmlns:a="http://schemas.openxmlformats.org/drawingml/2006/main" prst="roundRect">
            <a:avLst>
              <a:gd name="adj" fmla="val 7742"/>
            </a:avLst>
          </a:prstGeom>
          <a:solidFill xmlns:a="http://schemas.openxmlformats.org/drawingml/2006/main">
            <a:srgbClr val="FFFFFF"/>
          </a:solidFill>
          <a:ln xmlns:a="http://schemas.openxmlformats.org/drawingml/2006/main" w="9525">
            <a:solidFill>
              <a:srgbClr val="D9E4F2"/>
            </a:solidFill>
            <a:prstDash val="solid"/>
          </a:ln>
        </p:spPr>
      </p:sp>
      <p:sp>
        <p:nvSpPr>
          <p:cNvPr id="26" name="">
            <a:extLst xmlns:a="http://schemas.openxmlformats.org/drawingml/2006/main">
              <a:ext uri="{FF2B5EF4-FFF2-40B4-BE49-F238E27FC236}">
                <a16:creationId xmlns:a16="http://schemas.microsoft.com/office/drawing/2014/main" id="{1AD39D61-2391-4652-9FE5-1455E2C84FE0}"/>
              </a:ext>
            </a:extLst>
          </p:cNvPr>
          <p:cNvSpPr>
            <a:spLocks xmlns:a="http://schemas.openxmlformats.org/drawingml/2006/main" noGrp="1"/>
          </p:cNvSpPr>
          <p:nvPr/>
        </p:nvSpPr>
        <p:spPr>
          <a:xfrm xmlns:a="http://schemas.openxmlformats.org/drawingml/2006/main">
            <a:off x="4638675" y="4210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7" name="">
            <a:extLst xmlns:a="http://schemas.openxmlformats.org/drawingml/2006/main">
              <a:ext uri="{FF2B5EF4-FFF2-40B4-BE49-F238E27FC236}">
                <a16:creationId xmlns:a16="http://schemas.microsoft.com/office/drawing/2014/main" id="{52230513-7D06-4B75-B990-FF55E46EA9FF}"/>
              </a:ext>
            </a:extLst>
          </p:cNvPr>
          <p:cNvSpPr>
            <a:spLocks xmlns:a="http://schemas.openxmlformats.org/drawingml/2006/main" noGrp="1"/>
          </p:cNvSpPr>
          <p:nvPr/>
        </p:nvSpPr>
        <p:spPr>
          <a:xfrm xmlns:a="http://schemas.openxmlformats.org/drawingml/2006/main">
            <a:off x="4638675" y="4276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5</a:t>
            </a:r>
          </a:p>
        </p:txBody>
      </p:sp>
      <p:sp>
        <p:nvSpPr>
          <p:cNvPr id="28" name="">
            <a:extLst xmlns:a="http://schemas.openxmlformats.org/drawingml/2006/main">
              <a:ext uri="{FF2B5EF4-FFF2-40B4-BE49-F238E27FC236}">
                <a16:creationId xmlns:a16="http://schemas.microsoft.com/office/drawing/2014/main" id="{2E48AD9D-B702-49D8-9C05-B9E24D1AA22C}"/>
              </a:ext>
            </a:extLst>
          </p:cNvPr>
          <p:cNvSpPr>
            <a:spLocks xmlns:a="http://schemas.openxmlformats.org/drawingml/2006/main" noGrp="1"/>
          </p:cNvSpPr>
          <p:nvPr/>
        </p:nvSpPr>
        <p:spPr>
          <a:xfrm xmlns:a="http://schemas.openxmlformats.org/drawingml/2006/main">
            <a:off x="5172075" y="4210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Handy-Ticket</a:t>
            </a:r>
          </a:p>
        </p:txBody>
      </p:sp>
      <p:sp>
        <p:nvSpPr>
          <p:cNvPr id="29" name="">
            <a:extLst xmlns:a="http://schemas.openxmlformats.org/drawingml/2006/main">
              <a:ext uri="{FF2B5EF4-FFF2-40B4-BE49-F238E27FC236}">
                <a16:creationId xmlns:a16="http://schemas.microsoft.com/office/drawing/2014/main" id="{A898F011-F682-4407-97C3-DC970F1E52CA}"/>
              </a:ext>
            </a:extLst>
          </p:cNvPr>
          <p:cNvSpPr>
            <a:spLocks xmlns:a="http://schemas.openxmlformats.org/drawingml/2006/main" noGrp="1"/>
          </p:cNvSpPr>
          <p:nvPr/>
        </p:nvSpPr>
        <p:spPr>
          <a:xfrm xmlns:a="http://schemas.openxmlformats.org/drawingml/2006/main">
            <a:off x="5172075" y="4629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Desktop-Anmeldung wird per QR-Code auf das Smartphone uebertragen.</a:t>
            </a:r>
          </a:p>
        </p:txBody>
      </p:sp>
      <p:sp>
        <p:nvSpPr>
          <p:cNvPr id="30" name="">
            <a:extLst xmlns:a="http://schemas.openxmlformats.org/drawingml/2006/main">
              <a:ext uri="{FF2B5EF4-FFF2-40B4-BE49-F238E27FC236}">
                <a16:creationId xmlns:a16="http://schemas.microsoft.com/office/drawing/2014/main" id="{F6DE09A2-4ABD-4BC2-98D4-FCFEB9631C56}"/>
              </a:ext>
            </a:extLst>
          </p:cNvPr>
          <p:cNvSpPr>
            <a:spLocks xmlns:a="http://schemas.openxmlformats.org/drawingml/2006/main" noGrp="1"/>
          </p:cNvSpPr>
          <p:nvPr/>
        </p:nvSpPr>
        <p:spPr>
          <a:xfrm xmlns:a="http://schemas.openxmlformats.org/drawingml/2006/main">
            <a:off x="8172450" y="4000500"/>
            <a:ext cx="3333750" cy="1476375"/>
          </a:xfrm>
          <a:prstGeom xmlns:a="http://schemas.openxmlformats.org/drawingml/2006/main" prst="roundRect">
            <a:avLst>
              <a:gd name="adj" fmla="val 7742"/>
            </a:avLst>
          </a:prstGeom>
          <a:solidFill xmlns:a="http://schemas.openxmlformats.org/drawingml/2006/main">
            <a:srgbClr val="EEF5FF"/>
          </a:solidFill>
          <a:ln xmlns:a="http://schemas.openxmlformats.org/drawingml/2006/main" w="9525">
            <a:solidFill>
              <a:srgbClr val="D9E4F2"/>
            </a:solidFill>
            <a:prstDash val="solid"/>
          </a:ln>
        </p:spPr>
      </p:sp>
      <p:sp>
        <p:nvSpPr>
          <p:cNvPr id="31" name="">
            <a:extLst xmlns:a="http://schemas.openxmlformats.org/drawingml/2006/main">
              <a:ext uri="{FF2B5EF4-FFF2-40B4-BE49-F238E27FC236}">
                <a16:creationId xmlns:a16="http://schemas.microsoft.com/office/drawing/2014/main" id="{FCAEDEBB-F3B3-41CF-9B00-A1AE4DDAD965}"/>
              </a:ext>
            </a:extLst>
          </p:cNvPr>
          <p:cNvSpPr>
            <a:spLocks xmlns:a="http://schemas.openxmlformats.org/drawingml/2006/main" noGrp="1"/>
          </p:cNvSpPr>
          <p:nvPr/>
        </p:nvSpPr>
        <p:spPr>
          <a:xfrm xmlns:a="http://schemas.openxmlformats.org/drawingml/2006/main">
            <a:off x="8382000" y="42100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32" name="">
            <a:extLst xmlns:a="http://schemas.openxmlformats.org/drawingml/2006/main">
              <a:ext uri="{FF2B5EF4-FFF2-40B4-BE49-F238E27FC236}">
                <a16:creationId xmlns:a16="http://schemas.microsoft.com/office/drawing/2014/main" id="{535BA0A7-7458-40F0-BDD1-827F2B321257}"/>
              </a:ext>
            </a:extLst>
          </p:cNvPr>
          <p:cNvSpPr>
            <a:spLocks xmlns:a="http://schemas.openxmlformats.org/drawingml/2006/main" noGrp="1"/>
          </p:cNvSpPr>
          <p:nvPr/>
        </p:nvSpPr>
        <p:spPr>
          <a:xfrm xmlns:a="http://schemas.openxmlformats.org/drawingml/2006/main">
            <a:off x="8382000" y="4276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6</a:t>
            </a:r>
          </a:p>
        </p:txBody>
      </p:sp>
      <p:sp>
        <p:nvSpPr>
          <p:cNvPr id="33" name="">
            <a:extLst xmlns:a="http://schemas.openxmlformats.org/drawingml/2006/main">
              <a:ext uri="{FF2B5EF4-FFF2-40B4-BE49-F238E27FC236}">
                <a16:creationId xmlns:a16="http://schemas.microsoft.com/office/drawing/2014/main" id="{275F8A44-BA8B-47C8-949F-25E91BED670B}"/>
              </a:ext>
            </a:extLst>
          </p:cNvPr>
          <p:cNvSpPr>
            <a:spLocks xmlns:a="http://schemas.openxmlformats.org/drawingml/2006/main" noGrp="1"/>
          </p:cNvSpPr>
          <p:nvPr/>
        </p:nvSpPr>
        <p:spPr>
          <a:xfrm xmlns:a="http://schemas.openxmlformats.org/drawingml/2006/main">
            <a:off x="8915400" y="4210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Mobile first</a:t>
            </a:r>
          </a:p>
        </p:txBody>
      </p:sp>
      <p:sp>
        <p:nvSpPr>
          <p:cNvPr id="34" name="">
            <a:extLst xmlns:a="http://schemas.openxmlformats.org/drawingml/2006/main">
              <a:ext uri="{FF2B5EF4-FFF2-40B4-BE49-F238E27FC236}">
                <a16:creationId xmlns:a16="http://schemas.microsoft.com/office/drawing/2014/main" id="{7353ED29-FDD4-4DC6-A745-0DDC5AF15C03}"/>
              </a:ext>
            </a:extLst>
          </p:cNvPr>
          <p:cNvSpPr>
            <a:spLocks xmlns:a="http://schemas.openxmlformats.org/drawingml/2006/main" noGrp="1"/>
          </p:cNvSpPr>
          <p:nvPr/>
        </p:nvSpPr>
        <p:spPr>
          <a:xfrm xmlns:a="http://schemas.openxmlformats.org/drawingml/2006/main">
            <a:off x="8915400" y="4629150"/>
            <a:ext cx="238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Besucher, Teilnehmer und Mitglieder nutzen die Web-App vor allem mobil.</a:t>
            </a:r>
          </a:p>
        </p:txBody>
      </p:sp>
    </p:spTree>
    <p:extLst>
      <p:ext uri="{BB962C8B-B14F-4D97-AF65-F5344CB8AC3E}">
        <p14:creationId xmlns:p14="http://schemas.microsoft.com/office/powerpoint/2010/main" val="364447242"/>
      </p:ext>
    </p:extLst>
  </p:cSld>
</p:sld>
</file>

<file path=ppt/slides/slide4.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3261D12-0984-41C7-9F26-739CEC97710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ARCHITEKTUR</a:t>
            </a:r>
          </a:p>
        </p:txBody>
      </p:sp>
      <p:sp>
        <p:nvSpPr>
          <p:cNvPr id="2" name="">
            <a:extLst xmlns:a="http://schemas.openxmlformats.org/drawingml/2006/main">
              <a:ext uri="{FF2B5EF4-FFF2-40B4-BE49-F238E27FC236}">
                <a16:creationId xmlns:a16="http://schemas.microsoft.com/office/drawing/2014/main" id="{A803F75A-D154-4BA8-8458-4B24D7E3662A}"/>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Mobile first fuer Nutzer, Desktop fuer Verwaltung</a:t>
            </a:r>
          </a:p>
        </p:txBody>
      </p:sp>
      <p:sp>
        <p:nvSpPr>
          <p:cNvPr id="3" name="">
            <a:extLst xmlns:a="http://schemas.openxmlformats.org/drawingml/2006/main">
              <a:ext uri="{FF2B5EF4-FFF2-40B4-BE49-F238E27FC236}">
                <a16:creationId xmlns:a16="http://schemas.microsoft.com/office/drawing/2014/main" id="{9EAFA7FB-6D51-4D84-A115-7DB94CBF71D0}"/>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B482CA71-086C-4C1A-A8D6-EE623325B4B8}"/>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04</a:t>
            </a:r>
          </a:p>
        </p:txBody>
      </p:sp>
      <p:sp>
        <p:nvSpPr>
          <p:cNvPr id="5" name="">
            <a:extLst xmlns:a="http://schemas.openxmlformats.org/drawingml/2006/main">
              <a:ext uri="{FF2B5EF4-FFF2-40B4-BE49-F238E27FC236}">
                <a16:creationId xmlns:a16="http://schemas.microsoft.com/office/drawing/2014/main" id="{F098BCBC-0C1F-4382-A691-49E24953500E}"/>
              </a:ext>
            </a:extLst>
          </p:cNvPr>
          <p:cNvSpPr>
            <a:spLocks xmlns:a="http://schemas.openxmlformats.org/drawingml/2006/main" noGrp="1"/>
          </p:cNvSpPr>
          <p:nvPr/>
        </p:nvSpPr>
        <p:spPr>
          <a:xfrm xmlns:a="http://schemas.openxmlformats.org/drawingml/2006/main">
            <a:off x="819150" y="2190750"/>
            <a:ext cx="476250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E9CE10AF-FBE4-4272-ABB8-2E9461CFF292}"/>
              </a:ext>
            </a:extLst>
          </p:cNvPr>
          <p:cNvSpPr>
            <a:spLocks xmlns:a="http://schemas.openxmlformats.org/drawingml/2006/main" noGrp="1"/>
          </p:cNvSpPr>
          <p:nvPr/>
        </p:nvSpPr>
        <p:spPr>
          <a:xfrm xmlns:a="http://schemas.openxmlformats.org/drawingml/2006/main">
            <a:off x="1181100" y="2514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Mobile Web-App</a:t>
            </a:r>
          </a:p>
        </p:txBody>
      </p:sp>
      <p:sp>
        <p:nvSpPr>
          <p:cNvPr id="7" name="">
            <a:extLst xmlns:a="http://schemas.openxmlformats.org/drawingml/2006/main">
              <a:ext uri="{FF2B5EF4-FFF2-40B4-BE49-F238E27FC236}">
                <a16:creationId xmlns:a16="http://schemas.microsoft.com/office/drawing/2014/main" id="{120EB924-9BF3-45E1-BD81-122E4D272705}"/>
              </a:ext>
            </a:extLst>
          </p:cNvPr>
          <p:cNvSpPr>
            <a:spLocks xmlns:a="http://schemas.openxmlformats.org/drawingml/2006/main" noGrp="1"/>
          </p:cNvSpPr>
          <p:nvPr/>
        </p:nvSpPr>
        <p:spPr>
          <a:xfrm xmlns:a="http://schemas.openxmlformats.org/drawingml/2006/main">
            <a:off x="1181100" y="31908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C3BFB5E8-973B-4B7E-8321-AF3DD276A58D}"/>
              </a:ext>
            </a:extLst>
          </p:cNvPr>
          <p:cNvSpPr>
            <a:spLocks xmlns:a="http://schemas.openxmlformats.org/drawingml/2006/main" noGrp="1"/>
          </p:cNvSpPr>
          <p:nvPr/>
        </p:nvSpPr>
        <p:spPr>
          <a:xfrm xmlns:a="http://schemas.openxmlformats.org/drawingml/2006/main">
            <a:off x="1428750" y="310515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Events und Anmeldung</a:t>
            </a:r>
          </a:p>
        </p:txBody>
      </p:sp>
      <p:sp>
        <p:nvSpPr>
          <p:cNvPr id="9" name="">
            <a:extLst xmlns:a="http://schemas.openxmlformats.org/drawingml/2006/main">
              <a:ext uri="{FF2B5EF4-FFF2-40B4-BE49-F238E27FC236}">
                <a16:creationId xmlns:a16="http://schemas.microsoft.com/office/drawing/2014/main" id="{10DC9381-4B87-4A59-844E-CDEC54DF9D48}"/>
              </a:ext>
            </a:extLst>
          </p:cNvPr>
          <p:cNvSpPr>
            <a:spLocks xmlns:a="http://schemas.openxmlformats.org/drawingml/2006/main" noGrp="1"/>
          </p:cNvSpPr>
          <p:nvPr/>
        </p:nvSpPr>
        <p:spPr>
          <a:xfrm xmlns:a="http://schemas.openxmlformats.org/drawingml/2006/main">
            <a:off x="1181100" y="35909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901A98B5-86C7-449F-94E3-C6BC13AD19D6}"/>
              </a:ext>
            </a:extLst>
          </p:cNvPr>
          <p:cNvSpPr>
            <a:spLocks xmlns:a="http://schemas.openxmlformats.org/drawingml/2006/main" noGrp="1"/>
          </p:cNvSpPr>
          <p:nvPr/>
        </p:nvSpPr>
        <p:spPr>
          <a:xfrm xmlns:a="http://schemas.openxmlformats.org/drawingml/2006/main">
            <a:off x="1428750" y="350520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Handy-Ticket</a:t>
            </a:r>
          </a:p>
        </p:txBody>
      </p:sp>
      <p:sp>
        <p:nvSpPr>
          <p:cNvPr id="11" name="">
            <a:extLst xmlns:a="http://schemas.openxmlformats.org/drawingml/2006/main">
              <a:ext uri="{FF2B5EF4-FFF2-40B4-BE49-F238E27FC236}">
                <a16:creationId xmlns:a16="http://schemas.microsoft.com/office/drawing/2014/main" id="{9B7551AC-2C86-44AD-822B-7A1E7C755423}"/>
              </a:ext>
            </a:extLst>
          </p:cNvPr>
          <p:cNvSpPr>
            <a:spLocks xmlns:a="http://schemas.openxmlformats.org/drawingml/2006/main" noGrp="1"/>
          </p:cNvSpPr>
          <p:nvPr/>
        </p:nvSpPr>
        <p:spPr>
          <a:xfrm xmlns:a="http://schemas.openxmlformats.org/drawingml/2006/main">
            <a:off x="1181100" y="39909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E23EFA26-20A1-4368-AB14-0096DA65E719}"/>
              </a:ext>
            </a:extLst>
          </p:cNvPr>
          <p:cNvSpPr>
            <a:spLocks xmlns:a="http://schemas.openxmlformats.org/drawingml/2006/main" noGrp="1"/>
          </p:cNvSpPr>
          <p:nvPr/>
        </p:nvSpPr>
        <p:spPr>
          <a:xfrm xmlns:a="http://schemas.openxmlformats.org/drawingml/2006/main">
            <a:off x="1428750" y="390525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Mitgliederbereich</a:t>
            </a:r>
          </a:p>
        </p:txBody>
      </p:sp>
      <p:sp>
        <p:nvSpPr>
          <p:cNvPr id="13" name="">
            <a:extLst xmlns:a="http://schemas.openxmlformats.org/drawingml/2006/main">
              <a:ext uri="{FF2B5EF4-FFF2-40B4-BE49-F238E27FC236}">
                <a16:creationId xmlns:a16="http://schemas.microsoft.com/office/drawing/2014/main" id="{C94C2CCC-273C-486E-BB7D-94E730D4F305}"/>
              </a:ext>
            </a:extLst>
          </p:cNvPr>
          <p:cNvSpPr>
            <a:spLocks xmlns:a="http://schemas.openxmlformats.org/drawingml/2006/main" noGrp="1"/>
          </p:cNvSpPr>
          <p:nvPr/>
        </p:nvSpPr>
        <p:spPr>
          <a:xfrm xmlns:a="http://schemas.openxmlformats.org/drawingml/2006/main">
            <a:off x="1181100" y="43910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4" name="">
            <a:extLst xmlns:a="http://schemas.openxmlformats.org/drawingml/2006/main">
              <a:ext uri="{FF2B5EF4-FFF2-40B4-BE49-F238E27FC236}">
                <a16:creationId xmlns:a16="http://schemas.microsoft.com/office/drawing/2014/main" id="{4FA98F30-2376-46C5-9C58-41FE31D5685E}"/>
              </a:ext>
            </a:extLst>
          </p:cNvPr>
          <p:cNvSpPr>
            <a:spLocks xmlns:a="http://schemas.openxmlformats.org/drawingml/2006/main" noGrp="1"/>
          </p:cNvSpPr>
          <p:nvPr/>
        </p:nvSpPr>
        <p:spPr>
          <a:xfrm xmlns:a="http://schemas.openxmlformats.org/drawingml/2006/main">
            <a:off x="1428750" y="430530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News, Themen, Referenten</a:t>
            </a:r>
          </a:p>
        </p:txBody>
      </p:sp>
      <p:sp>
        <p:nvSpPr>
          <p:cNvPr id="15" name="">
            <a:extLst xmlns:a="http://schemas.openxmlformats.org/drawingml/2006/main">
              <a:ext uri="{FF2B5EF4-FFF2-40B4-BE49-F238E27FC236}">
                <a16:creationId xmlns:a16="http://schemas.microsoft.com/office/drawing/2014/main" id="{2B5C1380-F098-4E5B-B7FB-8F6ADD4F3AD0}"/>
              </a:ext>
            </a:extLst>
          </p:cNvPr>
          <p:cNvSpPr>
            <a:spLocks xmlns:a="http://schemas.openxmlformats.org/drawingml/2006/main" noGrp="1"/>
          </p:cNvSpPr>
          <p:nvPr/>
        </p:nvSpPr>
        <p:spPr>
          <a:xfrm xmlns:a="http://schemas.openxmlformats.org/drawingml/2006/main">
            <a:off x="6610350" y="2190750"/>
            <a:ext cx="476250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8A7FC120-50A8-4B7E-B5B4-2CA9808AEEB0}"/>
              </a:ext>
            </a:extLst>
          </p:cNvPr>
          <p:cNvSpPr>
            <a:spLocks xmlns:a="http://schemas.openxmlformats.org/drawingml/2006/main" noGrp="1"/>
          </p:cNvSpPr>
          <p:nvPr/>
        </p:nvSpPr>
        <p:spPr>
          <a:xfrm xmlns:a="http://schemas.openxmlformats.org/drawingml/2006/main">
            <a:off x="6972300" y="2514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Desktop-CMS</a:t>
            </a:r>
          </a:p>
        </p:txBody>
      </p:sp>
      <p:sp>
        <p:nvSpPr>
          <p:cNvPr id="17" name="">
            <a:extLst xmlns:a="http://schemas.openxmlformats.org/drawingml/2006/main">
              <a:ext uri="{FF2B5EF4-FFF2-40B4-BE49-F238E27FC236}">
                <a16:creationId xmlns:a16="http://schemas.microsoft.com/office/drawing/2014/main" id="{540B87E6-5BF4-4710-921C-4611D51601F6}"/>
              </a:ext>
            </a:extLst>
          </p:cNvPr>
          <p:cNvSpPr>
            <a:spLocks xmlns:a="http://schemas.openxmlformats.org/drawingml/2006/main" noGrp="1"/>
          </p:cNvSpPr>
          <p:nvPr/>
        </p:nvSpPr>
        <p:spPr>
          <a:xfrm xmlns:a="http://schemas.openxmlformats.org/drawingml/2006/main">
            <a:off x="6972300" y="31908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8" name="">
            <a:extLst xmlns:a="http://schemas.openxmlformats.org/drawingml/2006/main">
              <a:ext uri="{FF2B5EF4-FFF2-40B4-BE49-F238E27FC236}">
                <a16:creationId xmlns:a16="http://schemas.microsoft.com/office/drawing/2014/main" id="{E4DB831A-38D3-4977-B272-E56B72FC8DB8}"/>
              </a:ext>
            </a:extLst>
          </p:cNvPr>
          <p:cNvSpPr>
            <a:spLocks xmlns:a="http://schemas.openxmlformats.org/drawingml/2006/main" noGrp="1"/>
          </p:cNvSpPr>
          <p:nvPr/>
        </p:nvSpPr>
        <p:spPr>
          <a:xfrm xmlns:a="http://schemas.openxmlformats.org/drawingml/2006/main">
            <a:off x="7219950" y="310515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Eventorganisation</a:t>
            </a:r>
          </a:p>
        </p:txBody>
      </p:sp>
      <p:sp>
        <p:nvSpPr>
          <p:cNvPr id="19" name="">
            <a:extLst xmlns:a="http://schemas.openxmlformats.org/drawingml/2006/main">
              <a:ext uri="{FF2B5EF4-FFF2-40B4-BE49-F238E27FC236}">
                <a16:creationId xmlns:a16="http://schemas.microsoft.com/office/drawing/2014/main" id="{7CECFC32-7BF7-4D6F-B7D7-E3B2AE95741E}"/>
              </a:ext>
            </a:extLst>
          </p:cNvPr>
          <p:cNvSpPr>
            <a:spLocks xmlns:a="http://schemas.openxmlformats.org/drawingml/2006/main" noGrp="1"/>
          </p:cNvSpPr>
          <p:nvPr/>
        </p:nvSpPr>
        <p:spPr>
          <a:xfrm xmlns:a="http://schemas.openxmlformats.org/drawingml/2006/main">
            <a:off x="6972300" y="35909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0" name="">
            <a:extLst xmlns:a="http://schemas.openxmlformats.org/drawingml/2006/main">
              <a:ext uri="{FF2B5EF4-FFF2-40B4-BE49-F238E27FC236}">
                <a16:creationId xmlns:a16="http://schemas.microsoft.com/office/drawing/2014/main" id="{09806CB3-2B2D-43B0-B281-8C327D7F7402}"/>
              </a:ext>
            </a:extLst>
          </p:cNvPr>
          <p:cNvSpPr>
            <a:spLocks xmlns:a="http://schemas.openxmlformats.org/drawingml/2006/main" noGrp="1"/>
          </p:cNvSpPr>
          <p:nvPr/>
        </p:nvSpPr>
        <p:spPr>
          <a:xfrm xmlns:a="http://schemas.openxmlformats.org/drawingml/2006/main">
            <a:off x="7219950" y="350520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Redaktion und Medien</a:t>
            </a:r>
          </a:p>
        </p:txBody>
      </p:sp>
      <p:sp>
        <p:nvSpPr>
          <p:cNvPr id="21" name="">
            <a:extLst xmlns:a="http://schemas.openxmlformats.org/drawingml/2006/main">
              <a:ext uri="{FF2B5EF4-FFF2-40B4-BE49-F238E27FC236}">
                <a16:creationId xmlns:a16="http://schemas.microsoft.com/office/drawing/2014/main" id="{645AB95A-EC17-46D1-9933-FD35F49EE83A}"/>
              </a:ext>
            </a:extLst>
          </p:cNvPr>
          <p:cNvSpPr>
            <a:spLocks xmlns:a="http://schemas.openxmlformats.org/drawingml/2006/main" noGrp="1"/>
          </p:cNvSpPr>
          <p:nvPr/>
        </p:nvSpPr>
        <p:spPr>
          <a:xfrm xmlns:a="http://schemas.openxmlformats.org/drawingml/2006/main">
            <a:off x="6972300" y="39909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2" name="">
            <a:extLst xmlns:a="http://schemas.openxmlformats.org/drawingml/2006/main">
              <a:ext uri="{FF2B5EF4-FFF2-40B4-BE49-F238E27FC236}">
                <a16:creationId xmlns:a16="http://schemas.microsoft.com/office/drawing/2014/main" id="{9D03346E-57A5-4352-A9C7-BBF1510930CD}"/>
              </a:ext>
            </a:extLst>
          </p:cNvPr>
          <p:cNvSpPr>
            <a:spLocks xmlns:a="http://schemas.openxmlformats.org/drawingml/2006/main" noGrp="1"/>
          </p:cNvSpPr>
          <p:nvPr/>
        </p:nvSpPr>
        <p:spPr>
          <a:xfrm xmlns:a="http://schemas.openxmlformats.org/drawingml/2006/main">
            <a:off x="7219950" y="390525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Teilnehmerverwaltung</a:t>
            </a:r>
          </a:p>
        </p:txBody>
      </p:sp>
      <p:sp>
        <p:nvSpPr>
          <p:cNvPr id="23" name="">
            <a:extLst xmlns:a="http://schemas.openxmlformats.org/drawingml/2006/main">
              <a:ext uri="{FF2B5EF4-FFF2-40B4-BE49-F238E27FC236}">
                <a16:creationId xmlns:a16="http://schemas.microsoft.com/office/drawing/2014/main" id="{2348CD3A-1CE6-419F-BEED-62E907163D73}"/>
              </a:ext>
            </a:extLst>
          </p:cNvPr>
          <p:cNvSpPr>
            <a:spLocks xmlns:a="http://schemas.openxmlformats.org/drawingml/2006/main" noGrp="1"/>
          </p:cNvSpPr>
          <p:nvPr/>
        </p:nvSpPr>
        <p:spPr>
          <a:xfrm xmlns:a="http://schemas.openxmlformats.org/drawingml/2006/main">
            <a:off x="6972300" y="43910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4" name="">
            <a:extLst xmlns:a="http://schemas.openxmlformats.org/drawingml/2006/main">
              <a:ext uri="{FF2B5EF4-FFF2-40B4-BE49-F238E27FC236}">
                <a16:creationId xmlns:a16="http://schemas.microsoft.com/office/drawing/2014/main" id="{A1011E32-50F1-45C8-BA4A-C99DEC379526}"/>
              </a:ext>
            </a:extLst>
          </p:cNvPr>
          <p:cNvSpPr>
            <a:spLocks xmlns:a="http://schemas.openxmlformats.org/drawingml/2006/main" noGrp="1"/>
          </p:cNvSpPr>
          <p:nvPr/>
        </p:nvSpPr>
        <p:spPr>
          <a:xfrm xmlns:a="http://schemas.openxmlformats.org/drawingml/2006/main">
            <a:off x="7219950" y="4305300"/>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2B3B52"/>
                </a:solidFill>
              </a:defRPr>
            </a:pPr>
            <a:r>
              <a:rPr sz="1575" b="0">
                <a:solidFill>
                  <a:srgbClr val="2B3B52"/>
                </a:solidFill>
              </a:rPr>
              <a:t>Qualitaetssicherung</a:t>
            </a:r>
          </a:p>
        </p:txBody>
      </p:sp>
    </p:spTree>
    <p:extLst>
      <p:ext uri="{BB962C8B-B14F-4D97-AF65-F5344CB8AC3E}">
        <p14:creationId xmlns:p14="http://schemas.microsoft.com/office/powerpoint/2010/main" val="1833548658"/>
      </p:ext>
    </p:extLst>
  </p:cSld>
</p:sld>
</file>

<file path=ppt/slides/slide5.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6F3DC73-92C9-4831-9550-F3F6547A069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EVENTSTEUERUNG</a:t>
            </a:r>
          </a:p>
        </p:txBody>
      </p:sp>
      <p:sp>
        <p:nvSpPr>
          <p:cNvPr id="2" name="">
            <a:extLst xmlns:a="http://schemas.openxmlformats.org/drawingml/2006/main">
              <a:ext uri="{FF2B5EF4-FFF2-40B4-BE49-F238E27FC236}">
                <a16:creationId xmlns:a16="http://schemas.microsoft.com/office/drawing/2014/main" id="{AF94515D-04BD-4492-A5FC-87CE650FF75D}"/>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Aus einem Event entsteht ein redaktioneller Kreislauf</a:t>
            </a:r>
          </a:p>
        </p:txBody>
      </p:sp>
      <p:sp>
        <p:nvSpPr>
          <p:cNvPr id="3" name="">
            <a:extLst xmlns:a="http://schemas.openxmlformats.org/drawingml/2006/main">
              <a:ext uri="{FF2B5EF4-FFF2-40B4-BE49-F238E27FC236}">
                <a16:creationId xmlns:a16="http://schemas.microsoft.com/office/drawing/2014/main" id="{2E4DFB85-8559-42FB-9BB5-5556AD46E172}"/>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69EB5194-109C-413A-8C88-411419BF2313}"/>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05</a:t>
            </a:r>
          </a:p>
        </p:txBody>
      </p:sp>
      <p:sp>
        <p:nvSpPr>
          <p:cNvPr id="5" name="">
            <a:extLst xmlns:a="http://schemas.openxmlformats.org/drawingml/2006/main">
              <a:ext uri="{FF2B5EF4-FFF2-40B4-BE49-F238E27FC236}">
                <a16:creationId xmlns:a16="http://schemas.microsoft.com/office/drawing/2014/main" id="{46AB987F-5F34-423C-A2E4-478A8654C372}"/>
              </a:ext>
            </a:extLst>
          </p:cNvPr>
          <p:cNvSpPr>
            <a:spLocks xmlns:a="http://schemas.openxmlformats.org/drawingml/2006/main" noGrp="1"/>
          </p:cNvSpPr>
          <p:nvPr/>
        </p:nvSpPr>
        <p:spPr>
          <a:xfrm xmlns:a="http://schemas.openxmlformats.org/drawingml/2006/main">
            <a:off x="742950" y="2381250"/>
            <a:ext cx="18097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CEB26E5A-BF53-432F-A007-4633361A53E6}"/>
              </a:ext>
            </a:extLst>
          </p:cNvPr>
          <p:cNvSpPr>
            <a:spLocks xmlns:a="http://schemas.openxmlformats.org/drawingml/2006/main" noGrp="1"/>
          </p:cNvSpPr>
          <p:nvPr/>
        </p:nvSpPr>
        <p:spPr>
          <a:xfrm xmlns:a="http://schemas.openxmlformats.org/drawingml/2006/main">
            <a:off x="895350" y="25146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1</a:t>
            </a:r>
          </a:p>
        </p:txBody>
      </p:sp>
      <p:sp>
        <p:nvSpPr>
          <p:cNvPr id="7" name="">
            <a:extLst xmlns:a="http://schemas.openxmlformats.org/drawingml/2006/main">
              <a:ext uri="{FF2B5EF4-FFF2-40B4-BE49-F238E27FC236}">
                <a16:creationId xmlns:a16="http://schemas.microsoft.com/office/drawing/2014/main" id="{33E6BE62-2871-4D9C-94B0-810B79B15FA4}"/>
              </a:ext>
            </a:extLst>
          </p:cNvPr>
          <p:cNvSpPr>
            <a:spLocks xmlns:a="http://schemas.openxmlformats.org/drawingml/2006/main" noGrp="1"/>
          </p:cNvSpPr>
          <p:nvPr/>
        </p:nvSpPr>
        <p:spPr>
          <a:xfrm xmlns:a="http://schemas.openxmlformats.org/drawingml/2006/main">
            <a:off x="1257300" y="25527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Event planen</a:t>
            </a:r>
          </a:p>
        </p:txBody>
      </p:sp>
      <p:sp>
        <p:nvSpPr>
          <p:cNvPr id="8" name="">
            <a:extLst xmlns:a="http://schemas.openxmlformats.org/drawingml/2006/main">
              <a:ext uri="{FF2B5EF4-FFF2-40B4-BE49-F238E27FC236}">
                <a16:creationId xmlns:a16="http://schemas.microsoft.com/office/drawing/2014/main" id="{34193D0A-83DA-43E0-90AA-5BC549C072F1}"/>
              </a:ext>
            </a:extLst>
          </p:cNvPr>
          <p:cNvSpPr>
            <a:spLocks xmlns:a="http://schemas.openxmlformats.org/drawingml/2006/main" noGrp="1"/>
          </p:cNvSpPr>
          <p:nvPr/>
        </p:nvSpPr>
        <p:spPr>
          <a:xfrm xmlns:a="http://schemas.openxmlformats.org/drawingml/2006/main">
            <a:off x="2990850" y="2381250"/>
            <a:ext cx="18097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4F2"/>
            </a:solidFill>
            <a:prstDash val="solid"/>
          </a:ln>
        </p:spPr>
      </p:sp>
      <p:sp>
        <p:nvSpPr>
          <p:cNvPr id="9" name="">
            <a:extLst xmlns:a="http://schemas.openxmlformats.org/drawingml/2006/main">
              <a:ext uri="{FF2B5EF4-FFF2-40B4-BE49-F238E27FC236}">
                <a16:creationId xmlns:a16="http://schemas.microsoft.com/office/drawing/2014/main" id="{7901C0AE-8BCA-44F2-A37F-E92DE733905A}"/>
              </a:ext>
            </a:extLst>
          </p:cNvPr>
          <p:cNvSpPr>
            <a:spLocks xmlns:a="http://schemas.openxmlformats.org/drawingml/2006/main" noGrp="1"/>
          </p:cNvSpPr>
          <p:nvPr/>
        </p:nvSpPr>
        <p:spPr>
          <a:xfrm xmlns:a="http://schemas.openxmlformats.org/drawingml/2006/main">
            <a:off x="3143250" y="25146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2</a:t>
            </a:r>
          </a:p>
        </p:txBody>
      </p:sp>
      <p:sp>
        <p:nvSpPr>
          <p:cNvPr id="10" name="">
            <a:extLst xmlns:a="http://schemas.openxmlformats.org/drawingml/2006/main">
              <a:ext uri="{FF2B5EF4-FFF2-40B4-BE49-F238E27FC236}">
                <a16:creationId xmlns:a16="http://schemas.microsoft.com/office/drawing/2014/main" id="{738263D7-A793-4A6B-AA16-C540AD90A3B3}"/>
              </a:ext>
            </a:extLst>
          </p:cNvPr>
          <p:cNvSpPr>
            <a:spLocks xmlns:a="http://schemas.openxmlformats.org/drawingml/2006/main" noGrp="1"/>
          </p:cNvSpPr>
          <p:nvPr/>
        </p:nvSpPr>
        <p:spPr>
          <a:xfrm xmlns:a="http://schemas.openxmlformats.org/drawingml/2006/main">
            <a:off x="3505200" y="25527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Inhalte vorbereiten</a:t>
            </a:r>
          </a:p>
        </p:txBody>
      </p:sp>
      <p:sp>
        <p:nvSpPr>
          <p:cNvPr id="11" name="">
            <a:extLst xmlns:a="http://schemas.openxmlformats.org/drawingml/2006/main">
              <a:ext uri="{FF2B5EF4-FFF2-40B4-BE49-F238E27FC236}">
                <a16:creationId xmlns:a16="http://schemas.microsoft.com/office/drawing/2014/main" id="{F3820F14-1805-45C3-9076-E1C430C7E599}"/>
              </a:ext>
            </a:extLst>
          </p:cNvPr>
          <p:cNvSpPr>
            <a:spLocks xmlns:a="http://schemas.openxmlformats.org/drawingml/2006/main" noGrp="1"/>
          </p:cNvSpPr>
          <p:nvPr/>
        </p:nvSpPr>
        <p:spPr>
          <a:xfrm xmlns:a="http://schemas.openxmlformats.org/drawingml/2006/main">
            <a:off x="5238750" y="2381250"/>
            <a:ext cx="18097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4F2"/>
            </a:solidFill>
            <a:prstDash val="solid"/>
          </a:ln>
        </p:spPr>
      </p:sp>
      <p:sp>
        <p:nvSpPr>
          <p:cNvPr id="12" name="">
            <a:extLst xmlns:a="http://schemas.openxmlformats.org/drawingml/2006/main">
              <a:ext uri="{FF2B5EF4-FFF2-40B4-BE49-F238E27FC236}">
                <a16:creationId xmlns:a16="http://schemas.microsoft.com/office/drawing/2014/main" id="{40637D2D-ED00-47D2-9675-9376A3684630}"/>
              </a:ext>
            </a:extLst>
          </p:cNvPr>
          <p:cNvSpPr>
            <a:spLocks xmlns:a="http://schemas.openxmlformats.org/drawingml/2006/main" noGrp="1"/>
          </p:cNvSpPr>
          <p:nvPr/>
        </p:nvSpPr>
        <p:spPr>
          <a:xfrm xmlns:a="http://schemas.openxmlformats.org/drawingml/2006/main">
            <a:off x="5391150" y="25146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3</a:t>
            </a:r>
          </a:p>
        </p:txBody>
      </p:sp>
      <p:sp>
        <p:nvSpPr>
          <p:cNvPr id="13" name="">
            <a:extLst xmlns:a="http://schemas.openxmlformats.org/drawingml/2006/main">
              <a:ext uri="{FF2B5EF4-FFF2-40B4-BE49-F238E27FC236}">
                <a16:creationId xmlns:a16="http://schemas.microsoft.com/office/drawing/2014/main" id="{27238CAB-C844-4E1B-B2C0-94259C99A5A1}"/>
              </a:ext>
            </a:extLst>
          </p:cNvPr>
          <p:cNvSpPr>
            <a:spLocks xmlns:a="http://schemas.openxmlformats.org/drawingml/2006/main" noGrp="1"/>
          </p:cNvSpPr>
          <p:nvPr/>
        </p:nvSpPr>
        <p:spPr>
          <a:xfrm xmlns:a="http://schemas.openxmlformats.org/drawingml/2006/main">
            <a:off x="5753100" y="25527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Veroeffentlichen</a:t>
            </a:r>
          </a:p>
        </p:txBody>
      </p:sp>
      <p:sp>
        <p:nvSpPr>
          <p:cNvPr id="14" name="">
            <a:extLst xmlns:a="http://schemas.openxmlformats.org/drawingml/2006/main">
              <a:ext uri="{FF2B5EF4-FFF2-40B4-BE49-F238E27FC236}">
                <a16:creationId xmlns:a16="http://schemas.microsoft.com/office/drawing/2014/main" id="{FE21CF9F-C9AA-48A0-A2BD-E907E2742940}"/>
              </a:ext>
            </a:extLst>
          </p:cNvPr>
          <p:cNvSpPr>
            <a:spLocks xmlns:a="http://schemas.openxmlformats.org/drawingml/2006/main" noGrp="1"/>
          </p:cNvSpPr>
          <p:nvPr/>
        </p:nvSpPr>
        <p:spPr>
          <a:xfrm xmlns:a="http://schemas.openxmlformats.org/drawingml/2006/main">
            <a:off x="7486650" y="2381250"/>
            <a:ext cx="1809750" cy="876300"/>
          </a:xfrm>
          <a:prstGeom xmlns:a="http://schemas.openxmlformats.org/drawingml/2006/main" prst="roundRect">
            <a:avLst>
              <a:gd name="adj" fmla="val 13043"/>
            </a:avLst>
          </a:prstGeom>
          <a:solidFill xmlns:a="http://schemas.openxmlformats.org/drawingml/2006/main">
            <a:srgbClr val="FFF1F2"/>
          </a:solidFill>
          <a:ln xmlns:a="http://schemas.openxmlformats.org/drawingml/2006/main" w="9525">
            <a:solidFill>
              <a:srgbClr val="D9E4F2"/>
            </a:solidFill>
            <a:prstDash val="solid"/>
          </a:ln>
        </p:spPr>
      </p:sp>
      <p:sp>
        <p:nvSpPr>
          <p:cNvPr id="15" name="">
            <a:extLst xmlns:a="http://schemas.openxmlformats.org/drawingml/2006/main">
              <a:ext uri="{FF2B5EF4-FFF2-40B4-BE49-F238E27FC236}">
                <a16:creationId xmlns:a16="http://schemas.microsoft.com/office/drawing/2014/main" id="{A39F7E6D-AC95-48F8-A065-9B004F9D085D}"/>
              </a:ext>
            </a:extLst>
          </p:cNvPr>
          <p:cNvSpPr>
            <a:spLocks xmlns:a="http://schemas.openxmlformats.org/drawingml/2006/main" noGrp="1"/>
          </p:cNvSpPr>
          <p:nvPr/>
        </p:nvSpPr>
        <p:spPr>
          <a:xfrm xmlns:a="http://schemas.openxmlformats.org/drawingml/2006/main">
            <a:off x="7639050" y="25146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4</a:t>
            </a:r>
          </a:p>
        </p:txBody>
      </p:sp>
      <p:sp>
        <p:nvSpPr>
          <p:cNvPr id="16" name="">
            <a:extLst xmlns:a="http://schemas.openxmlformats.org/drawingml/2006/main">
              <a:ext uri="{FF2B5EF4-FFF2-40B4-BE49-F238E27FC236}">
                <a16:creationId xmlns:a16="http://schemas.microsoft.com/office/drawing/2014/main" id="{0C7AD2EC-2BD8-4019-A83E-A4B1F3FD33A8}"/>
              </a:ext>
            </a:extLst>
          </p:cNvPr>
          <p:cNvSpPr>
            <a:spLocks xmlns:a="http://schemas.openxmlformats.org/drawingml/2006/main" noGrp="1"/>
          </p:cNvSpPr>
          <p:nvPr/>
        </p:nvSpPr>
        <p:spPr>
          <a:xfrm xmlns:a="http://schemas.openxmlformats.org/drawingml/2006/main">
            <a:off x="8001000" y="25527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Zentrale Einladung</a:t>
            </a:r>
          </a:p>
        </p:txBody>
      </p:sp>
      <p:sp>
        <p:nvSpPr>
          <p:cNvPr id="17" name="">
            <a:extLst xmlns:a="http://schemas.openxmlformats.org/drawingml/2006/main">
              <a:ext uri="{FF2B5EF4-FFF2-40B4-BE49-F238E27FC236}">
                <a16:creationId xmlns:a16="http://schemas.microsoft.com/office/drawing/2014/main" id="{AED8D5D4-7393-43E6-A217-30ECFF22FA08}"/>
              </a:ext>
            </a:extLst>
          </p:cNvPr>
          <p:cNvSpPr>
            <a:spLocks xmlns:a="http://schemas.openxmlformats.org/drawingml/2006/main" noGrp="1"/>
          </p:cNvSpPr>
          <p:nvPr/>
        </p:nvSpPr>
        <p:spPr>
          <a:xfrm xmlns:a="http://schemas.openxmlformats.org/drawingml/2006/main">
            <a:off x="9734550" y="2381250"/>
            <a:ext cx="18097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4F2"/>
            </a:solidFill>
            <a:prstDash val="solid"/>
          </a:ln>
        </p:spPr>
      </p:sp>
      <p:sp>
        <p:nvSpPr>
          <p:cNvPr id="18" name="">
            <a:extLst xmlns:a="http://schemas.openxmlformats.org/drawingml/2006/main">
              <a:ext uri="{FF2B5EF4-FFF2-40B4-BE49-F238E27FC236}">
                <a16:creationId xmlns:a16="http://schemas.microsoft.com/office/drawing/2014/main" id="{8DE86C79-19BB-466B-B511-C52549B5633D}"/>
              </a:ext>
            </a:extLst>
          </p:cNvPr>
          <p:cNvSpPr>
            <a:spLocks xmlns:a="http://schemas.openxmlformats.org/drawingml/2006/main" noGrp="1"/>
          </p:cNvSpPr>
          <p:nvPr/>
        </p:nvSpPr>
        <p:spPr>
          <a:xfrm xmlns:a="http://schemas.openxmlformats.org/drawingml/2006/main">
            <a:off x="9886950" y="25146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5</a:t>
            </a:r>
          </a:p>
        </p:txBody>
      </p:sp>
      <p:sp>
        <p:nvSpPr>
          <p:cNvPr id="19" name="">
            <a:extLst xmlns:a="http://schemas.openxmlformats.org/drawingml/2006/main">
              <a:ext uri="{FF2B5EF4-FFF2-40B4-BE49-F238E27FC236}">
                <a16:creationId xmlns:a16="http://schemas.microsoft.com/office/drawing/2014/main" id="{852939A6-2CE6-4D29-B069-D1CF55D277A9}"/>
              </a:ext>
            </a:extLst>
          </p:cNvPr>
          <p:cNvSpPr>
            <a:spLocks xmlns:a="http://schemas.openxmlformats.org/drawingml/2006/main" noGrp="1"/>
          </p:cNvSpPr>
          <p:nvPr/>
        </p:nvSpPr>
        <p:spPr>
          <a:xfrm xmlns:a="http://schemas.openxmlformats.org/drawingml/2006/main">
            <a:off x="10248900" y="25527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Anmeldung</a:t>
            </a:r>
          </a:p>
        </p:txBody>
      </p:sp>
      <p:sp>
        <p:nvSpPr>
          <p:cNvPr id="20" name="">
            <a:extLst xmlns:a="http://schemas.openxmlformats.org/drawingml/2006/main">
              <a:ext uri="{FF2B5EF4-FFF2-40B4-BE49-F238E27FC236}">
                <a16:creationId xmlns:a16="http://schemas.microsoft.com/office/drawing/2014/main" id="{82F2D5B5-C378-4628-A06E-7A410E781C45}"/>
              </a:ext>
            </a:extLst>
          </p:cNvPr>
          <p:cNvSpPr>
            <a:spLocks xmlns:a="http://schemas.openxmlformats.org/drawingml/2006/main" noGrp="1"/>
          </p:cNvSpPr>
          <p:nvPr/>
        </p:nvSpPr>
        <p:spPr>
          <a:xfrm xmlns:a="http://schemas.openxmlformats.org/drawingml/2006/main">
            <a:off x="742950" y="3857625"/>
            <a:ext cx="18097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4F2"/>
            </a:solidFill>
            <a:prstDash val="solid"/>
          </a:ln>
        </p:spPr>
      </p:sp>
      <p:sp>
        <p:nvSpPr>
          <p:cNvPr id="21" name="">
            <a:extLst xmlns:a="http://schemas.openxmlformats.org/drawingml/2006/main">
              <a:ext uri="{FF2B5EF4-FFF2-40B4-BE49-F238E27FC236}">
                <a16:creationId xmlns:a16="http://schemas.microsoft.com/office/drawing/2014/main" id="{93EF4B1B-B3D7-43B8-A407-43D6ECBD1D60}"/>
              </a:ext>
            </a:extLst>
          </p:cNvPr>
          <p:cNvSpPr>
            <a:spLocks xmlns:a="http://schemas.openxmlformats.org/drawingml/2006/main" noGrp="1"/>
          </p:cNvSpPr>
          <p:nvPr/>
        </p:nvSpPr>
        <p:spPr>
          <a:xfrm xmlns:a="http://schemas.openxmlformats.org/drawingml/2006/main">
            <a:off x="895350" y="3990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6</a:t>
            </a:r>
          </a:p>
        </p:txBody>
      </p:sp>
      <p:sp>
        <p:nvSpPr>
          <p:cNvPr id="22" name="">
            <a:extLst xmlns:a="http://schemas.openxmlformats.org/drawingml/2006/main">
              <a:ext uri="{FF2B5EF4-FFF2-40B4-BE49-F238E27FC236}">
                <a16:creationId xmlns:a16="http://schemas.microsoft.com/office/drawing/2014/main" id="{2A506ED5-75D8-4F67-91BE-AC6E4C987414}"/>
              </a:ext>
            </a:extLst>
          </p:cNvPr>
          <p:cNvSpPr>
            <a:spLocks xmlns:a="http://schemas.openxmlformats.org/drawingml/2006/main" noGrp="1"/>
          </p:cNvSpPr>
          <p:nvPr/>
        </p:nvSpPr>
        <p:spPr>
          <a:xfrm xmlns:a="http://schemas.openxmlformats.org/drawingml/2006/main">
            <a:off x="1257300" y="402907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Durchfuehrung</a:t>
            </a:r>
          </a:p>
        </p:txBody>
      </p:sp>
      <p:sp>
        <p:nvSpPr>
          <p:cNvPr id="23" name="">
            <a:extLst xmlns:a="http://schemas.openxmlformats.org/drawingml/2006/main">
              <a:ext uri="{FF2B5EF4-FFF2-40B4-BE49-F238E27FC236}">
                <a16:creationId xmlns:a16="http://schemas.microsoft.com/office/drawing/2014/main" id="{F8CE6124-5E21-4CBF-A101-C6CCF4183965}"/>
              </a:ext>
            </a:extLst>
          </p:cNvPr>
          <p:cNvSpPr>
            <a:spLocks xmlns:a="http://schemas.openxmlformats.org/drawingml/2006/main" noGrp="1"/>
          </p:cNvSpPr>
          <p:nvPr/>
        </p:nvSpPr>
        <p:spPr>
          <a:xfrm xmlns:a="http://schemas.openxmlformats.org/drawingml/2006/main">
            <a:off x="2990850" y="3857625"/>
            <a:ext cx="1809750" cy="876300"/>
          </a:xfrm>
          <a:prstGeom xmlns:a="http://schemas.openxmlformats.org/drawingml/2006/main" prst="roundRect">
            <a:avLst>
              <a:gd name="adj" fmla="val 13043"/>
            </a:avLst>
          </a:prstGeom>
          <a:solidFill xmlns:a="http://schemas.openxmlformats.org/drawingml/2006/main">
            <a:srgbClr val="F1FBF6"/>
          </a:solidFill>
          <a:ln xmlns:a="http://schemas.openxmlformats.org/drawingml/2006/main" w="9525">
            <a:solidFill>
              <a:srgbClr val="D9E4F2"/>
            </a:solidFill>
            <a:prstDash val="solid"/>
          </a:ln>
        </p:spPr>
      </p:sp>
      <p:sp>
        <p:nvSpPr>
          <p:cNvPr id="24" name="">
            <a:extLst xmlns:a="http://schemas.openxmlformats.org/drawingml/2006/main">
              <a:ext uri="{FF2B5EF4-FFF2-40B4-BE49-F238E27FC236}">
                <a16:creationId xmlns:a16="http://schemas.microsoft.com/office/drawing/2014/main" id="{22712F59-FA81-416F-B24E-DAABF6A02C10}"/>
              </a:ext>
            </a:extLst>
          </p:cNvPr>
          <p:cNvSpPr>
            <a:spLocks xmlns:a="http://schemas.openxmlformats.org/drawingml/2006/main" noGrp="1"/>
          </p:cNvSpPr>
          <p:nvPr/>
        </p:nvSpPr>
        <p:spPr>
          <a:xfrm xmlns:a="http://schemas.openxmlformats.org/drawingml/2006/main">
            <a:off x="3143250" y="3990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7</a:t>
            </a:r>
          </a:p>
        </p:txBody>
      </p:sp>
      <p:sp>
        <p:nvSpPr>
          <p:cNvPr id="25" name="">
            <a:extLst xmlns:a="http://schemas.openxmlformats.org/drawingml/2006/main">
              <a:ext uri="{FF2B5EF4-FFF2-40B4-BE49-F238E27FC236}">
                <a16:creationId xmlns:a16="http://schemas.microsoft.com/office/drawing/2014/main" id="{ABCFE96C-9FE2-4553-9D4E-5F7E70EDD663}"/>
              </a:ext>
            </a:extLst>
          </p:cNvPr>
          <p:cNvSpPr>
            <a:spLocks xmlns:a="http://schemas.openxmlformats.org/drawingml/2006/main" noGrp="1"/>
          </p:cNvSpPr>
          <p:nvPr/>
        </p:nvSpPr>
        <p:spPr>
          <a:xfrm xmlns:a="http://schemas.openxmlformats.org/drawingml/2006/main">
            <a:off x="3505200" y="402907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Rueckblick</a:t>
            </a:r>
          </a:p>
        </p:txBody>
      </p:sp>
      <p:sp>
        <p:nvSpPr>
          <p:cNvPr id="26" name="">
            <a:extLst xmlns:a="http://schemas.openxmlformats.org/drawingml/2006/main">
              <a:ext uri="{FF2B5EF4-FFF2-40B4-BE49-F238E27FC236}">
                <a16:creationId xmlns:a16="http://schemas.microsoft.com/office/drawing/2014/main" id="{5514F0AA-3042-4354-99C8-7CE7B3B14CBF}"/>
              </a:ext>
            </a:extLst>
          </p:cNvPr>
          <p:cNvSpPr>
            <a:spLocks xmlns:a="http://schemas.openxmlformats.org/drawingml/2006/main" noGrp="1"/>
          </p:cNvSpPr>
          <p:nvPr/>
        </p:nvSpPr>
        <p:spPr>
          <a:xfrm xmlns:a="http://schemas.openxmlformats.org/drawingml/2006/main">
            <a:off x="5238750" y="3857625"/>
            <a:ext cx="1809750" cy="876300"/>
          </a:xfrm>
          <a:prstGeom xmlns:a="http://schemas.openxmlformats.org/drawingml/2006/main" prst="roundRect">
            <a:avLst>
              <a:gd name="adj" fmla="val 13043"/>
            </a:avLst>
          </a:prstGeom>
          <a:solidFill xmlns:a="http://schemas.openxmlformats.org/drawingml/2006/main">
            <a:srgbClr val="F1FBF6"/>
          </a:solidFill>
          <a:ln xmlns:a="http://schemas.openxmlformats.org/drawingml/2006/main" w="9525">
            <a:solidFill>
              <a:srgbClr val="D9E4F2"/>
            </a:solidFill>
            <a:prstDash val="solid"/>
          </a:ln>
        </p:spPr>
      </p:sp>
      <p:sp>
        <p:nvSpPr>
          <p:cNvPr id="27" name="">
            <a:extLst xmlns:a="http://schemas.openxmlformats.org/drawingml/2006/main">
              <a:ext uri="{FF2B5EF4-FFF2-40B4-BE49-F238E27FC236}">
                <a16:creationId xmlns:a16="http://schemas.microsoft.com/office/drawing/2014/main" id="{5A973123-EA22-4AED-BAD1-1AAD52B517EE}"/>
              </a:ext>
            </a:extLst>
          </p:cNvPr>
          <p:cNvSpPr>
            <a:spLocks xmlns:a="http://schemas.openxmlformats.org/drawingml/2006/main" noGrp="1"/>
          </p:cNvSpPr>
          <p:nvPr/>
        </p:nvSpPr>
        <p:spPr>
          <a:xfrm xmlns:a="http://schemas.openxmlformats.org/drawingml/2006/main">
            <a:off x="5391150" y="3990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8</a:t>
            </a:r>
          </a:p>
        </p:txBody>
      </p:sp>
      <p:sp>
        <p:nvSpPr>
          <p:cNvPr id="28" name="">
            <a:extLst xmlns:a="http://schemas.openxmlformats.org/drawingml/2006/main">
              <a:ext uri="{FF2B5EF4-FFF2-40B4-BE49-F238E27FC236}">
                <a16:creationId xmlns:a16="http://schemas.microsoft.com/office/drawing/2014/main" id="{7B4F6D43-F531-43A6-86B7-2851475671DE}"/>
              </a:ext>
            </a:extLst>
          </p:cNvPr>
          <p:cNvSpPr>
            <a:spLocks xmlns:a="http://schemas.openxmlformats.org/drawingml/2006/main" noGrp="1"/>
          </p:cNvSpPr>
          <p:nvPr/>
        </p:nvSpPr>
        <p:spPr>
          <a:xfrm xmlns:a="http://schemas.openxmlformats.org/drawingml/2006/main">
            <a:off x="5753100" y="402907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Robo-Themen</a:t>
            </a:r>
          </a:p>
        </p:txBody>
      </p:sp>
      <p:sp>
        <p:nvSpPr>
          <p:cNvPr id="29" name="">
            <a:extLst xmlns:a="http://schemas.openxmlformats.org/drawingml/2006/main">
              <a:ext uri="{FF2B5EF4-FFF2-40B4-BE49-F238E27FC236}">
                <a16:creationId xmlns:a16="http://schemas.microsoft.com/office/drawing/2014/main" id="{E597F4C7-3670-4B7A-A9B9-D9AE7DB8ABD7}"/>
              </a:ext>
            </a:extLst>
          </p:cNvPr>
          <p:cNvSpPr>
            <a:spLocks xmlns:a="http://schemas.openxmlformats.org/drawingml/2006/main" noGrp="1"/>
          </p:cNvSpPr>
          <p:nvPr/>
        </p:nvSpPr>
        <p:spPr>
          <a:xfrm xmlns:a="http://schemas.openxmlformats.org/drawingml/2006/main">
            <a:off x="7486650" y="3857625"/>
            <a:ext cx="1809750" cy="876300"/>
          </a:xfrm>
          <a:prstGeom xmlns:a="http://schemas.openxmlformats.org/drawingml/2006/main" prst="roundRect">
            <a:avLst>
              <a:gd name="adj" fmla="val 13043"/>
            </a:avLst>
          </a:prstGeom>
          <a:solidFill xmlns:a="http://schemas.openxmlformats.org/drawingml/2006/main">
            <a:srgbClr val="F1FBF6"/>
          </a:solidFill>
          <a:ln xmlns:a="http://schemas.openxmlformats.org/drawingml/2006/main" w="9525">
            <a:solidFill>
              <a:srgbClr val="D9E4F2"/>
            </a:solidFill>
            <a:prstDash val="solid"/>
          </a:ln>
        </p:spPr>
      </p:sp>
      <p:sp>
        <p:nvSpPr>
          <p:cNvPr id="30" name="">
            <a:extLst xmlns:a="http://schemas.openxmlformats.org/drawingml/2006/main">
              <a:ext uri="{FF2B5EF4-FFF2-40B4-BE49-F238E27FC236}">
                <a16:creationId xmlns:a16="http://schemas.microsoft.com/office/drawing/2014/main" id="{26F7F21F-9D77-451F-A1B3-5DD90FC5EE78}"/>
              </a:ext>
            </a:extLst>
          </p:cNvPr>
          <p:cNvSpPr>
            <a:spLocks xmlns:a="http://schemas.openxmlformats.org/drawingml/2006/main" noGrp="1"/>
          </p:cNvSpPr>
          <p:nvPr/>
        </p:nvSpPr>
        <p:spPr>
          <a:xfrm xmlns:a="http://schemas.openxmlformats.org/drawingml/2006/main">
            <a:off x="7639050" y="3990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9</a:t>
            </a:r>
          </a:p>
        </p:txBody>
      </p:sp>
      <p:sp>
        <p:nvSpPr>
          <p:cNvPr id="31" name="">
            <a:extLst xmlns:a="http://schemas.openxmlformats.org/drawingml/2006/main">
              <a:ext uri="{FF2B5EF4-FFF2-40B4-BE49-F238E27FC236}">
                <a16:creationId xmlns:a16="http://schemas.microsoft.com/office/drawing/2014/main" id="{385B615B-FB90-40B3-9312-790FA1C44810}"/>
              </a:ext>
            </a:extLst>
          </p:cNvPr>
          <p:cNvSpPr>
            <a:spLocks xmlns:a="http://schemas.openxmlformats.org/drawingml/2006/main" noGrp="1"/>
          </p:cNvSpPr>
          <p:nvPr/>
        </p:nvSpPr>
        <p:spPr>
          <a:xfrm xmlns:a="http://schemas.openxmlformats.org/drawingml/2006/main">
            <a:off x="8001000" y="402907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Referentenbuehne</a:t>
            </a:r>
          </a:p>
        </p:txBody>
      </p:sp>
      <p:sp>
        <p:nvSpPr>
          <p:cNvPr id="32" name="">
            <a:extLst xmlns:a="http://schemas.openxmlformats.org/drawingml/2006/main">
              <a:ext uri="{FF2B5EF4-FFF2-40B4-BE49-F238E27FC236}">
                <a16:creationId xmlns:a16="http://schemas.microsoft.com/office/drawing/2014/main" id="{9B1D596A-05E3-4B48-87AC-9085443DB6B5}"/>
              </a:ext>
            </a:extLst>
          </p:cNvPr>
          <p:cNvSpPr>
            <a:spLocks xmlns:a="http://schemas.openxmlformats.org/drawingml/2006/main" noGrp="1"/>
          </p:cNvSpPr>
          <p:nvPr/>
        </p:nvSpPr>
        <p:spPr>
          <a:xfrm xmlns:a="http://schemas.openxmlformats.org/drawingml/2006/main">
            <a:off x="9734550" y="3857625"/>
            <a:ext cx="1809750" cy="876300"/>
          </a:xfrm>
          <a:prstGeom xmlns:a="http://schemas.openxmlformats.org/drawingml/2006/main" prst="roundRect">
            <a:avLst>
              <a:gd name="adj" fmla="val 13043"/>
            </a:avLst>
          </a:prstGeom>
          <a:solidFill xmlns:a="http://schemas.openxmlformats.org/drawingml/2006/main">
            <a:srgbClr val="F1FBF6"/>
          </a:solidFill>
          <a:ln xmlns:a="http://schemas.openxmlformats.org/drawingml/2006/main" w="9525">
            <a:solidFill>
              <a:srgbClr val="D9E4F2"/>
            </a:solidFill>
            <a:prstDash val="solid"/>
          </a:ln>
        </p:spPr>
      </p:sp>
      <p:sp>
        <p:nvSpPr>
          <p:cNvPr id="33" name="">
            <a:extLst xmlns:a="http://schemas.openxmlformats.org/drawingml/2006/main">
              <a:ext uri="{FF2B5EF4-FFF2-40B4-BE49-F238E27FC236}">
                <a16:creationId xmlns:a16="http://schemas.microsoft.com/office/drawing/2014/main" id="{D749F4B5-C83C-41A2-83AB-2B1A203853E0}"/>
              </a:ext>
            </a:extLst>
          </p:cNvPr>
          <p:cNvSpPr>
            <a:spLocks xmlns:a="http://schemas.openxmlformats.org/drawingml/2006/main" noGrp="1"/>
          </p:cNvSpPr>
          <p:nvPr/>
        </p:nvSpPr>
        <p:spPr>
          <a:xfrm xmlns:a="http://schemas.openxmlformats.org/drawingml/2006/main">
            <a:off x="9886950" y="3990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30613"/>
                </a:solidFill>
              </a:defRPr>
            </a:pPr>
            <a:r>
              <a:rPr sz="1650" b="1">
                <a:solidFill>
                  <a:srgbClr val="E30613"/>
                </a:solidFill>
              </a:rPr>
              <a:t>10</a:t>
            </a:r>
          </a:p>
        </p:txBody>
      </p:sp>
      <p:sp>
        <p:nvSpPr>
          <p:cNvPr id="34" name="">
            <a:extLst xmlns:a="http://schemas.openxmlformats.org/drawingml/2006/main">
              <a:ext uri="{FF2B5EF4-FFF2-40B4-BE49-F238E27FC236}">
                <a16:creationId xmlns:a16="http://schemas.microsoft.com/office/drawing/2014/main" id="{870C4C66-2815-481B-888B-A71C3D2653F2}"/>
              </a:ext>
            </a:extLst>
          </p:cNvPr>
          <p:cNvSpPr>
            <a:spLocks xmlns:a="http://schemas.openxmlformats.org/drawingml/2006/main" noGrp="1"/>
          </p:cNvSpPr>
          <p:nvPr/>
        </p:nvSpPr>
        <p:spPr>
          <a:xfrm xmlns:a="http://schemas.openxmlformats.org/drawingml/2006/main">
            <a:off x="10248900" y="402907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Nachkommunikation</a:t>
            </a:r>
          </a:p>
        </p:txBody>
      </p:sp>
    </p:spTree>
    <p:extLst>
      <p:ext uri="{BB962C8B-B14F-4D97-AF65-F5344CB8AC3E}">
        <p14:creationId xmlns:p14="http://schemas.microsoft.com/office/powerpoint/2010/main" val="1771804194"/>
      </p:ext>
    </p:extLst>
  </p:cSld>
</p:sld>
</file>

<file path=ppt/slides/slide6.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F2580F-9B5C-4F84-ACE0-33077AC664B4}"/>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EVENTPLANUNG</a:t>
            </a:r>
          </a:p>
        </p:txBody>
      </p:sp>
      <p:sp>
        <p:nvSpPr>
          <p:cNvPr id="2" name="">
            <a:extLst xmlns:a="http://schemas.openxmlformats.org/drawingml/2006/main">
              <a:ext uri="{FF2B5EF4-FFF2-40B4-BE49-F238E27FC236}">
                <a16:creationId xmlns:a16="http://schemas.microsoft.com/office/drawing/2014/main" id="{69BF8E66-9B2E-40B3-87B7-9BC8E8298E45}"/>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Stammdaten schaffen die Grundlage fuer alles Weitere</a:t>
            </a:r>
          </a:p>
        </p:txBody>
      </p:sp>
      <p:sp>
        <p:nvSpPr>
          <p:cNvPr id="3" name="">
            <a:extLst xmlns:a="http://schemas.openxmlformats.org/drawingml/2006/main">
              <a:ext uri="{FF2B5EF4-FFF2-40B4-BE49-F238E27FC236}">
                <a16:creationId xmlns:a16="http://schemas.microsoft.com/office/drawing/2014/main" id="{58B1ABE2-FAE0-439F-ACE3-B3D4DEA06A8D}"/>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D3B75A47-8058-44E1-8CBE-D5BFDC7CB356}"/>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06</a:t>
            </a:r>
          </a:p>
        </p:txBody>
      </p:sp>
      <p:sp>
        <p:nvSpPr>
          <p:cNvPr id="5" name="">
            <a:extLst xmlns:a="http://schemas.openxmlformats.org/drawingml/2006/main">
              <a:ext uri="{FF2B5EF4-FFF2-40B4-BE49-F238E27FC236}">
                <a16:creationId xmlns:a16="http://schemas.microsoft.com/office/drawing/2014/main" id="{03A920AF-6FF3-4711-9458-623E05547A7A}"/>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D3DE062B-6C16-454B-B20D-EF05D44209EE}"/>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Titel, Datum, Uhrzeit und Ort</a:t>
            </a:r>
          </a:p>
        </p:txBody>
      </p:sp>
      <p:sp>
        <p:nvSpPr>
          <p:cNvPr id="7" name="">
            <a:extLst xmlns:a="http://schemas.openxmlformats.org/drawingml/2006/main">
              <a:ext uri="{FF2B5EF4-FFF2-40B4-BE49-F238E27FC236}">
                <a16:creationId xmlns:a16="http://schemas.microsoft.com/office/drawing/2014/main" id="{27B68F46-9C37-44D6-915B-848D4360243A}"/>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4114A933-8FAC-40B8-9B99-42A4C31AFBCB}"/>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Gastgeber, Partner, Eventtyp und Sichtbarkeit</a:t>
            </a:r>
          </a:p>
        </p:txBody>
      </p:sp>
      <p:sp>
        <p:nvSpPr>
          <p:cNvPr id="9" name="">
            <a:extLst xmlns:a="http://schemas.openxmlformats.org/drawingml/2006/main">
              <a:ext uri="{FF2B5EF4-FFF2-40B4-BE49-F238E27FC236}">
                <a16:creationId xmlns:a16="http://schemas.microsoft.com/office/drawing/2014/main" id="{4E335070-EB81-4AA3-9730-3AA0AEE35CA3}"/>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428BFFC4-72A3-4BC4-8BDF-D605DC414B15}"/>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Startseiten-Schalter und Mitgliederfreigabe</a:t>
            </a:r>
          </a:p>
        </p:txBody>
      </p:sp>
      <p:sp>
        <p:nvSpPr>
          <p:cNvPr id="11" name="">
            <a:extLst xmlns:a="http://schemas.openxmlformats.org/drawingml/2006/main">
              <a:ext uri="{FF2B5EF4-FFF2-40B4-BE49-F238E27FC236}">
                <a16:creationId xmlns:a16="http://schemas.microsoft.com/office/drawing/2014/main" id="{941EB3E8-F533-4170-A4FB-A71DCA4BD769}"/>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00C57C0D-76BF-4DC9-B089-31B28C948CB4}"/>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Eventbild, Einladungstext und Anmeldeoptionen</a:t>
            </a:r>
          </a:p>
        </p:txBody>
      </p:sp>
    </p:spTree>
    <p:extLst>
      <p:ext uri="{BB962C8B-B14F-4D97-AF65-F5344CB8AC3E}">
        <p14:creationId xmlns:p14="http://schemas.microsoft.com/office/powerpoint/2010/main" val="478950704"/>
      </p:ext>
    </p:extLst>
  </p:cSld>
</p:sld>
</file>

<file path=ppt/slides/slide7.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872AA7B-271C-4ECF-B7D4-67FDD55F45CF}"/>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EINLADUNG</a:t>
            </a:r>
          </a:p>
        </p:txBody>
      </p:sp>
      <p:sp>
        <p:nvSpPr>
          <p:cNvPr id="2" name="">
            <a:extLst xmlns:a="http://schemas.openxmlformats.org/drawingml/2006/main">
              <a:ext uri="{FF2B5EF4-FFF2-40B4-BE49-F238E27FC236}">
                <a16:creationId xmlns:a16="http://schemas.microsoft.com/office/drawing/2014/main" id="{0FB9B74F-D23C-4E7F-AA9C-B97F6A5B3224}"/>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Mail und Push adressieren den richtigen Besucherkreis</a:t>
            </a:r>
          </a:p>
        </p:txBody>
      </p:sp>
      <p:sp>
        <p:nvSpPr>
          <p:cNvPr id="3" name="">
            <a:extLst xmlns:a="http://schemas.openxmlformats.org/drawingml/2006/main">
              <a:ext uri="{FF2B5EF4-FFF2-40B4-BE49-F238E27FC236}">
                <a16:creationId xmlns:a16="http://schemas.microsoft.com/office/drawing/2014/main" id="{5A5A1978-D236-4E55-956A-669E207601A9}"/>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82A53F5D-AAC6-4E00-B840-C32C98C7602C}"/>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07</a:t>
            </a:r>
          </a:p>
        </p:txBody>
      </p:sp>
      <p:sp>
        <p:nvSpPr>
          <p:cNvPr id="5" name="">
            <a:extLst xmlns:a="http://schemas.openxmlformats.org/drawingml/2006/main">
              <a:ext uri="{FF2B5EF4-FFF2-40B4-BE49-F238E27FC236}">
                <a16:creationId xmlns:a16="http://schemas.microsoft.com/office/drawing/2014/main" id="{0DF04D43-071E-4FDA-9F93-708F378EE926}"/>
              </a:ext>
            </a:extLst>
          </p:cNvPr>
          <p:cNvSpPr>
            <a:spLocks xmlns:a="http://schemas.openxmlformats.org/drawingml/2006/main" noGrp="1"/>
          </p:cNvSpPr>
          <p:nvPr/>
        </p:nvSpPr>
        <p:spPr>
          <a:xfrm xmlns:a="http://schemas.openxmlformats.org/drawingml/2006/main">
            <a:off x="876300" y="2238375"/>
            <a:ext cx="4762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E55CCE87-A0D0-4061-8DC2-C1B624C7E561}"/>
              </a:ext>
            </a:extLst>
          </p:cNvPr>
          <p:cNvSpPr>
            <a:spLocks xmlns:a="http://schemas.openxmlformats.org/drawingml/2006/main" noGrp="1"/>
          </p:cNvSpPr>
          <p:nvPr/>
        </p:nvSpPr>
        <p:spPr>
          <a:xfrm xmlns:a="http://schemas.openxmlformats.org/drawingml/2006/main">
            <a:off x="1085850" y="244792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D176631F-8F12-45CB-9EA3-452EB3C5DFBE}"/>
              </a:ext>
            </a:extLst>
          </p:cNvPr>
          <p:cNvSpPr>
            <a:spLocks xmlns:a="http://schemas.openxmlformats.org/drawingml/2006/main" noGrp="1"/>
          </p:cNvSpPr>
          <p:nvPr/>
        </p:nvSpPr>
        <p:spPr>
          <a:xfrm xmlns:a="http://schemas.openxmlformats.org/drawingml/2006/main">
            <a:off x="1085850" y="25146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2F7CADB5-2271-4DCE-8A00-DEBFEFB25CC4}"/>
              </a:ext>
            </a:extLst>
          </p:cNvPr>
          <p:cNvSpPr>
            <a:spLocks xmlns:a="http://schemas.openxmlformats.org/drawingml/2006/main" noGrp="1"/>
          </p:cNvSpPr>
          <p:nvPr/>
        </p:nvSpPr>
        <p:spPr>
          <a:xfrm xmlns:a="http://schemas.openxmlformats.org/drawingml/2006/main">
            <a:off x="1619250" y="24479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Empfaengerkreis waehlen</a:t>
            </a:r>
          </a:p>
        </p:txBody>
      </p:sp>
      <p:sp>
        <p:nvSpPr>
          <p:cNvPr id="9" name="">
            <a:extLst xmlns:a="http://schemas.openxmlformats.org/drawingml/2006/main">
              <a:ext uri="{FF2B5EF4-FFF2-40B4-BE49-F238E27FC236}">
                <a16:creationId xmlns:a16="http://schemas.microsoft.com/office/drawing/2014/main" id="{25945B5A-8F4E-41A2-B3ED-159E61148792}"/>
              </a:ext>
            </a:extLst>
          </p:cNvPr>
          <p:cNvSpPr>
            <a:spLocks xmlns:a="http://schemas.openxmlformats.org/drawingml/2006/main" noGrp="1"/>
          </p:cNvSpPr>
          <p:nvPr/>
        </p:nvSpPr>
        <p:spPr>
          <a:xfrm xmlns:a="http://schemas.openxmlformats.org/drawingml/2006/main">
            <a:off x="1619250" y="2867025"/>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Gesamter Adressbestand, Vereinsmitglieder, Teilnehmergruppen, Partner oder manuelle Verteiler.</a:t>
            </a:r>
          </a:p>
        </p:txBody>
      </p:sp>
      <p:sp>
        <p:nvSpPr>
          <p:cNvPr id="10" name="">
            <a:extLst xmlns:a="http://schemas.openxmlformats.org/drawingml/2006/main">
              <a:ext uri="{FF2B5EF4-FFF2-40B4-BE49-F238E27FC236}">
                <a16:creationId xmlns:a16="http://schemas.microsoft.com/office/drawing/2014/main" id="{062EE95C-F334-4A73-8386-8ECD55577520}"/>
              </a:ext>
            </a:extLst>
          </p:cNvPr>
          <p:cNvSpPr>
            <a:spLocks xmlns:a="http://schemas.openxmlformats.org/drawingml/2006/main" noGrp="1"/>
          </p:cNvSpPr>
          <p:nvPr/>
        </p:nvSpPr>
        <p:spPr>
          <a:xfrm xmlns:a="http://schemas.openxmlformats.org/drawingml/2006/main">
            <a:off x="6553200" y="2238375"/>
            <a:ext cx="4762500" cy="1524000"/>
          </a:xfrm>
          <a:prstGeom xmlns:a="http://schemas.openxmlformats.org/drawingml/2006/main" prst="roundRect">
            <a:avLst>
              <a:gd name="adj" fmla="val 7500"/>
            </a:avLst>
          </a:prstGeom>
          <a:solidFill xmlns:a="http://schemas.openxmlformats.org/drawingml/2006/main">
            <a:srgbClr val="EEF5FF"/>
          </a:solidFill>
          <a:ln xmlns:a="http://schemas.openxmlformats.org/drawingml/2006/main" w="9525">
            <a:solidFill>
              <a:srgbClr val="D9E4F2"/>
            </a:solidFill>
            <a:prstDash val="solid"/>
          </a:ln>
        </p:spPr>
      </p:sp>
      <p:sp>
        <p:nvSpPr>
          <p:cNvPr id="11" name="">
            <a:extLst xmlns:a="http://schemas.openxmlformats.org/drawingml/2006/main">
              <a:ext uri="{FF2B5EF4-FFF2-40B4-BE49-F238E27FC236}">
                <a16:creationId xmlns:a16="http://schemas.microsoft.com/office/drawing/2014/main" id="{AAE6CE14-C3B3-41CC-875F-709EC6593693}"/>
              </a:ext>
            </a:extLst>
          </p:cNvPr>
          <p:cNvSpPr>
            <a:spLocks xmlns:a="http://schemas.openxmlformats.org/drawingml/2006/main" noGrp="1"/>
          </p:cNvSpPr>
          <p:nvPr/>
        </p:nvSpPr>
        <p:spPr>
          <a:xfrm xmlns:a="http://schemas.openxmlformats.org/drawingml/2006/main">
            <a:off x="6762750" y="244792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942F6E26-4F3D-4D72-82AA-0A81C3315989}"/>
              </a:ext>
            </a:extLst>
          </p:cNvPr>
          <p:cNvSpPr>
            <a:spLocks xmlns:a="http://schemas.openxmlformats.org/drawingml/2006/main" noGrp="1"/>
          </p:cNvSpPr>
          <p:nvPr/>
        </p:nvSpPr>
        <p:spPr>
          <a:xfrm xmlns:a="http://schemas.openxmlformats.org/drawingml/2006/main">
            <a:off x="6762750" y="25146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BBEC7874-ED98-47E1-ABB3-EE59287D341F}"/>
              </a:ext>
            </a:extLst>
          </p:cNvPr>
          <p:cNvSpPr>
            <a:spLocks xmlns:a="http://schemas.openxmlformats.org/drawingml/2006/main" noGrp="1"/>
          </p:cNvSpPr>
          <p:nvPr/>
        </p:nvSpPr>
        <p:spPr>
          <a:xfrm xmlns:a="http://schemas.openxmlformats.org/drawingml/2006/main">
            <a:off x="7296150" y="24479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Einladung versenden</a:t>
            </a:r>
          </a:p>
        </p:txBody>
      </p:sp>
      <p:sp>
        <p:nvSpPr>
          <p:cNvPr id="14" name="">
            <a:extLst xmlns:a="http://schemas.openxmlformats.org/drawingml/2006/main">
              <a:ext uri="{FF2B5EF4-FFF2-40B4-BE49-F238E27FC236}">
                <a16:creationId xmlns:a16="http://schemas.microsoft.com/office/drawing/2014/main" id="{6D99368B-D15E-49EB-A16B-47CBCA79C6E1}"/>
              </a:ext>
            </a:extLst>
          </p:cNvPr>
          <p:cNvSpPr>
            <a:spLocks xmlns:a="http://schemas.openxmlformats.org/drawingml/2006/main" noGrp="1"/>
          </p:cNvSpPr>
          <p:nvPr/>
        </p:nvSpPr>
        <p:spPr>
          <a:xfrm xmlns:a="http://schemas.openxmlformats.org/drawingml/2006/main">
            <a:off x="7296150" y="2867025"/>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Mail ist der verlaessliche Kanal fuer Einladung, Save-the-Date und konkrete Eventinformationen.</a:t>
            </a:r>
          </a:p>
        </p:txBody>
      </p:sp>
      <p:sp>
        <p:nvSpPr>
          <p:cNvPr id="15" name="">
            <a:extLst xmlns:a="http://schemas.openxmlformats.org/drawingml/2006/main">
              <a:ext uri="{FF2B5EF4-FFF2-40B4-BE49-F238E27FC236}">
                <a16:creationId xmlns:a16="http://schemas.microsoft.com/office/drawing/2014/main" id="{BD370BCC-1DD2-47EF-8C2B-6891986A6C69}"/>
              </a:ext>
            </a:extLst>
          </p:cNvPr>
          <p:cNvSpPr>
            <a:spLocks xmlns:a="http://schemas.openxmlformats.org/drawingml/2006/main" noGrp="1"/>
          </p:cNvSpPr>
          <p:nvPr/>
        </p:nvSpPr>
        <p:spPr>
          <a:xfrm xmlns:a="http://schemas.openxmlformats.org/drawingml/2006/main">
            <a:off x="3714750" y="4191000"/>
            <a:ext cx="4762500" cy="1524000"/>
          </a:xfrm>
          <a:prstGeom xmlns:a="http://schemas.openxmlformats.org/drawingml/2006/main" prst="roundRect">
            <a:avLst>
              <a:gd name="adj" fmla="val 7500"/>
            </a:avLst>
          </a:prstGeom>
          <a:solidFill xmlns:a="http://schemas.openxmlformats.org/drawingml/2006/main">
            <a:srgbClr val="FFF6F7"/>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91B12314-AD61-49EC-BF9C-31F30637985B}"/>
              </a:ext>
            </a:extLst>
          </p:cNvPr>
          <p:cNvSpPr>
            <a:spLocks xmlns:a="http://schemas.openxmlformats.org/drawingml/2006/main" noGrp="1"/>
          </p:cNvSpPr>
          <p:nvPr/>
        </p:nvSpPr>
        <p:spPr>
          <a:xfrm xmlns:a="http://schemas.openxmlformats.org/drawingml/2006/main">
            <a:off x="3924300" y="44005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7" name="">
            <a:extLst xmlns:a="http://schemas.openxmlformats.org/drawingml/2006/main">
              <a:ext uri="{FF2B5EF4-FFF2-40B4-BE49-F238E27FC236}">
                <a16:creationId xmlns:a16="http://schemas.microsoft.com/office/drawing/2014/main" id="{6A3F5E8B-58D7-49C5-851A-CCF2126975B2}"/>
              </a:ext>
            </a:extLst>
          </p:cNvPr>
          <p:cNvSpPr>
            <a:spLocks xmlns:a="http://schemas.openxmlformats.org/drawingml/2006/main" noGrp="1"/>
          </p:cNvSpPr>
          <p:nvPr/>
        </p:nvSpPr>
        <p:spPr>
          <a:xfrm xmlns:a="http://schemas.openxmlformats.org/drawingml/2006/main">
            <a:off x="3924300" y="44672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53459AD1-25C7-475D-9359-22EFDA078B70}"/>
              </a:ext>
            </a:extLst>
          </p:cNvPr>
          <p:cNvSpPr>
            <a:spLocks xmlns:a="http://schemas.openxmlformats.org/drawingml/2006/main" noGrp="1"/>
          </p:cNvSpPr>
          <p:nvPr/>
        </p:nvSpPr>
        <p:spPr>
          <a:xfrm xmlns:a="http://schemas.openxmlformats.org/drawingml/2006/main">
            <a:off x="4457700" y="44005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Push ergaenzen</a:t>
            </a:r>
          </a:p>
        </p:txBody>
      </p:sp>
      <p:sp>
        <p:nvSpPr>
          <p:cNvPr id="19" name="">
            <a:extLst xmlns:a="http://schemas.openxmlformats.org/drawingml/2006/main">
              <a:ext uri="{FF2B5EF4-FFF2-40B4-BE49-F238E27FC236}">
                <a16:creationId xmlns:a16="http://schemas.microsoft.com/office/drawing/2014/main" id="{97F70683-CAD2-4D31-9098-896ADC8B4C6C}"/>
              </a:ext>
            </a:extLst>
          </p:cNvPr>
          <p:cNvSpPr>
            <a:spLocks xmlns:a="http://schemas.openxmlformats.org/drawingml/2006/main" noGrp="1"/>
          </p:cNvSpPr>
          <p:nvPr/>
        </p:nvSpPr>
        <p:spPr>
          <a:xfrm xmlns:a="http://schemas.openxmlformats.org/drawingml/2006/main">
            <a:off x="4457700" y="48196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Push ist der schnelle mobile Kanal fuer kurze Hinweise, Erinnerungen und kurzfristige Updates.</a:t>
            </a:r>
          </a:p>
        </p:txBody>
      </p:sp>
    </p:spTree>
    <p:extLst>
      <p:ext uri="{BB962C8B-B14F-4D97-AF65-F5344CB8AC3E}">
        <p14:creationId xmlns:p14="http://schemas.microsoft.com/office/powerpoint/2010/main" val="752088499"/>
      </p:ext>
    </p:extLst>
  </p:cSld>
</p:sld>
</file>

<file path=ppt/slides/slide8.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FA23C7-5F80-41F9-AA77-3FD05FEC6E97}"/>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ANMELDUNG</a:t>
            </a:r>
          </a:p>
        </p:txBody>
      </p:sp>
      <p:sp>
        <p:nvSpPr>
          <p:cNvPr id="2" name="">
            <a:extLst xmlns:a="http://schemas.openxmlformats.org/drawingml/2006/main">
              <a:ext uri="{FF2B5EF4-FFF2-40B4-BE49-F238E27FC236}">
                <a16:creationId xmlns:a16="http://schemas.microsoft.com/office/drawing/2014/main" id="{773A8D65-D16D-40CB-99A2-24B6A7AB0E72}"/>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Die Registrierung verbindet Teilnehmer, Event und Kommunikation</a:t>
            </a:r>
          </a:p>
        </p:txBody>
      </p:sp>
      <p:sp>
        <p:nvSpPr>
          <p:cNvPr id="3" name="">
            <a:extLst xmlns:a="http://schemas.openxmlformats.org/drawingml/2006/main">
              <a:ext uri="{FF2B5EF4-FFF2-40B4-BE49-F238E27FC236}">
                <a16:creationId xmlns:a16="http://schemas.microsoft.com/office/drawing/2014/main" id="{B47117E0-6B70-454A-B49C-1D8978B5913D}"/>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3591EA34-4F69-4E69-A2E8-D8254DC599E2}"/>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08</a:t>
            </a:r>
          </a:p>
        </p:txBody>
      </p:sp>
      <p:sp>
        <p:nvSpPr>
          <p:cNvPr id="5" name="">
            <a:extLst xmlns:a="http://schemas.openxmlformats.org/drawingml/2006/main">
              <a:ext uri="{FF2B5EF4-FFF2-40B4-BE49-F238E27FC236}">
                <a16:creationId xmlns:a16="http://schemas.microsoft.com/office/drawing/2014/main" id="{6DBAB353-134D-494B-ADCE-E9057E2F5AB2}"/>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FD2A08DC-B895-4482-AC85-E8B7621B312F}"/>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Formular mit Datenschutz- und Foto-/Videohinweis</a:t>
            </a:r>
          </a:p>
        </p:txBody>
      </p:sp>
      <p:sp>
        <p:nvSpPr>
          <p:cNvPr id="7" name="">
            <a:extLst xmlns:a="http://schemas.openxmlformats.org/drawingml/2006/main">
              <a:ext uri="{FF2B5EF4-FFF2-40B4-BE49-F238E27FC236}">
                <a16:creationId xmlns:a16="http://schemas.microsoft.com/office/drawing/2014/main" id="{F77D2C0E-FA75-4F3B-A7E5-31DD52F64DC4}"/>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FE62BE3A-6CC3-4B76-80FF-8385237BBB06}"/>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Dublettenpruefung und Wartelistenlogik</a:t>
            </a:r>
          </a:p>
        </p:txBody>
      </p:sp>
      <p:sp>
        <p:nvSpPr>
          <p:cNvPr id="9" name="">
            <a:extLst xmlns:a="http://schemas.openxmlformats.org/drawingml/2006/main">
              <a:ext uri="{FF2B5EF4-FFF2-40B4-BE49-F238E27FC236}">
                <a16:creationId xmlns:a16="http://schemas.microsoft.com/office/drawing/2014/main" id="{1965D9D5-A257-47F8-96A6-825DECEF7E27}"/>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B60D4EF5-94E2-471A-B06D-0901E9B6A28D}"/>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Bestaetigungsmail auch bei manueller Anlage</a:t>
            </a:r>
          </a:p>
        </p:txBody>
      </p:sp>
      <p:sp>
        <p:nvSpPr>
          <p:cNvPr id="11" name="">
            <a:extLst xmlns:a="http://schemas.openxmlformats.org/drawingml/2006/main">
              <a:ext uri="{FF2B5EF4-FFF2-40B4-BE49-F238E27FC236}">
                <a16:creationId xmlns:a16="http://schemas.microsoft.com/office/drawing/2014/main" id="{9E49521C-9B90-4428-9C88-B6BF6BCC285D}"/>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B4DA398F-07E4-4F1E-8EAA-67B39296C086}"/>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Status fuer Eventliste und Handy-Ticket</a:t>
            </a:r>
          </a:p>
        </p:txBody>
      </p:sp>
    </p:spTree>
    <p:extLst>
      <p:ext uri="{BB962C8B-B14F-4D97-AF65-F5344CB8AC3E}">
        <p14:creationId xmlns:p14="http://schemas.microsoft.com/office/powerpoint/2010/main" val="1524283860"/>
      </p:ext>
    </p:extLst>
  </p:cSld>
</p:sld>
</file>

<file path=ppt/slides/slide9.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2D5524D-2B9E-4EDA-A897-D45856DE194C}"/>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DESKTOP ZU HANDY</a:t>
            </a:r>
          </a:p>
        </p:txBody>
      </p:sp>
      <p:sp>
        <p:nvSpPr>
          <p:cNvPr id="2" name="">
            <a:extLst xmlns:a="http://schemas.openxmlformats.org/drawingml/2006/main">
              <a:ext uri="{FF2B5EF4-FFF2-40B4-BE49-F238E27FC236}">
                <a16:creationId xmlns:a16="http://schemas.microsoft.com/office/drawing/2014/main" id="{D3B20863-0DA0-46DC-95BE-8F9FD002DE48}"/>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Der QR-Code uebertraegt den Token auf das Smartphone</a:t>
            </a:r>
          </a:p>
        </p:txBody>
      </p:sp>
      <p:sp>
        <p:nvSpPr>
          <p:cNvPr id="3" name="">
            <a:extLst xmlns:a="http://schemas.openxmlformats.org/drawingml/2006/main">
              <a:ext uri="{FF2B5EF4-FFF2-40B4-BE49-F238E27FC236}">
                <a16:creationId xmlns:a16="http://schemas.microsoft.com/office/drawing/2014/main" id="{23628D12-AB3C-40A3-84B5-6B398116D4A0}"/>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D8500B3D-6BDB-4ED5-8CCA-1BA29F31E176}"/>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09</a:t>
            </a:r>
          </a:p>
        </p:txBody>
      </p:sp>
      <p:sp>
        <p:nvSpPr>
          <p:cNvPr id="5" name="">
            <a:extLst xmlns:a="http://schemas.openxmlformats.org/drawingml/2006/main">
              <a:ext uri="{FF2B5EF4-FFF2-40B4-BE49-F238E27FC236}">
                <a16:creationId xmlns:a16="http://schemas.microsoft.com/office/drawing/2014/main" id="{17DDEBA1-9343-4CA7-867F-5D5940FE9991}"/>
              </a:ext>
            </a:extLst>
          </p:cNvPr>
          <p:cNvSpPr>
            <a:spLocks xmlns:a="http://schemas.openxmlformats.org/drawingml/2006/main" noGrp="1"/>
          </p:cNvSpPr>
          <p:nvPr/>
        </p:nvSpPr>
        <p:spPr>
          <a:xfrm xmlns:a="http://schemas.openxmlformats.org/drawingml/2006/main">
            <a:off x="685800" y="2333625"/>
            <a:ext cx="32385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311B3181-E7F9-477E-9994-16286F412B34}"/>
              </a:ext>
            </a:extLst>
          </p:cNvPr>
          <p:cNvSpPr>
            <a:spLocks xmlns:a="http://schemas.openxmlformats.org/drawingml/2006/main" noGrp="1"/>
          </p:cNvSpPr>
          <p:nvPr/>
        </p:nvSpPr>
        <p:spPr>
          <a:xfrm xmlns:a="http://schemas.openxmlformats.org/drawingml/2006/main">
            <a:off x="895350"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5CBC890B-AF7E-480E-8A33-871F4187F135}"/>
              </a:ext>
            </a:extLst>
          </p:cNvPr>
          <p:cNvSpPr>
            <a:spLocks xmlns:a="http://schemas.openxmlformats.org/drawingml/2006/main" noGrp="1"/>
          </p:cNvSpPr>
          <p:nvPr/>
        </p:nvSpPr>
        <p:spPr>
          <a:xfrm xmlns:a="http://schemas.openxmlformats.org/drawingml/2006/main">
            <a:off x="895350"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432469DE-D9D8-4703-896C-BC16F3A78BEB}"/>
              </a:ext>
            </a:extLst>
          </p:cNvPr>
          <p:cNvSpPr>
            <a:spLocks xmlns:a="http://schemas.openxmlformats.org/drawingml/2006/main" noGrp="1"/>
          </p:cNvSpPr>
          <p:nvPr/>
        </p:nvSpPr>
        <p:spPr>
          <a:xfrm xmlns:a="http://schemas.openxmlformats.org/drawingml/2006/main">
            <a:off x="1428750" y="25431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Desktop-Anmeldung</a:t>
            </a:r>
          </a:p>
        </p:txBody>
      </p:sp>
      <p:sp>
        <p:nvSpPr>
          <p:cNvPr id="9" name="">
            <a:extLst xmlns:a="http://schemas.openxmlformats.org/drawingml/2006/main">
              <a:ext uri="{FF2B5EF4-FFF2-40B4-BE49-F238E27FC236}">
                <a16:creationId xmlns:a16="http://schemas.microsoft.com/office/drawing/2014/main" id="{5C039F03-D8A9-4B0B-91FA-EC12F61FC755}"/>
              </a:ext>
            </a:extLst>
          </p:cNvPr>
          <p:cNvSpPr>
            <a:spLocks xmlns:a="http://schemas.openxmlformats.org/drawingml/2006/main" noGrp="1"/>
          </p:cNvSpPr>
          <p:nvPr/>
        </p:nvSpPr>
        <p:spPr>
          <a:xfrm xmlns:a="http://schemas.openxmlformats.org/drawingml/2006/main">
            <a:off x="1428750" y="2962275"/>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Der Gast meldet sich am Desktop an und sieht danach einen QR-Code.</a:t>
            </a:r>
          </a:p>
        </p:txBody>
      </p:sp>
      <p:sp>
        <p:nvSpPr>
          <p:cNvPr id="10" name="">
            <a:extLst xmlns:a="http://schemas.openxmlformats.org/drawingml/2006/main">
              <a:ext uri="{FF2B5EF4-FFF2-40B4-BE49-F238E27FC236}">
                <a16:creationId xmlns:a16="http://schemas.microsoft.com/office/drawing/2014/main" id="{961206A0-00A6-4EEF-8BA8-96FF44ED4A14}"/>
              </a:ext>
            </a:extLst>
          </p:cNvPr>
          <p:cNvSpPr>
            <a:spLocks xmlns:a="http://schemas.openxmlformats.org/drawingml/2006/main" noGrp="1"/>
          </p:cNvSpPr>
          <p:nvPr/>
        </p:nvSpPr>
        <p:spPr>
          <a:xfrm xmlns:a="http://schemas.openxmlformats.org/drawingml/2006/main">
            <a:off x="4476750" y="2333625"/>
            <a:ext cx="3238500" cy="1714500"/>
          </a:xfrm>
          <a:prstGeom xmlns:a="http://schemas.openxmlformats.org/drawingml/2006/main" prst="roundRect">
            <a:avLst>
              <a:gd name="adj" fmla="val 6667"/>
            </a:avLst>
          </a:prstGeom>
          <a:solidFill xmlns:a="http://schemas.openxmlformats.org/drawingml/2006/main">
            <a:srgbClr val="FFF6F7"/>
          </a:solidFill>
          <a:ln xmlns:a="http://schemas.openxmlformats.org/drawingml/2006/main" w="9525">
            <a:solidFill>
              <a:srgbClr val="D9E4F2"/>
            </a:solidFill>
            <a:prstDash val="solid"/>
          </a:ln>
        </p:spPr>
      </p:sp>
      <p:sp>
        <p:nvSpPr>
          <p:cNvPr id="11" name="">
            <a:extLst xmlns:a="http://schemas.openxmlformats.org/drawingml/2006/main">
              <a:ext uri="{FF2B5EF4-FFF2-40B4-BE49-F238E27FC236}">
                <a16:creationId xmlns:a16="http://schemas.microsoft.com/office/drawing/2014/main" id="{37CF85CA-66E2-4B19-AEF4-D07578FBAE81}"/>
              </a:ext>
            </a:extLst>
          </p:cNvPr>
          <p:cNvSpPr>
            <a:spLocks xmlns:a="http://schemas.openxmlformats.org/drawingml/2006/main" noGrp="1"/>
          </p:cNvSpPr>
          <p:nvPr/>
        </p:nvSpPr>
        <p:spPr>
          <a:xfrm xmlns:a="http://schemas.openxmlformats.org/drawingml/2006/main">
            <a:off x="4686300"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C2DA8E41-F566-4BDA-99EF-3DC671F9A0EB}"/>
              </a:ext>
            </a:extLst>
          </p:cNvPr>
          <p:cNvSpPr>
            <a:spLocks xmlns:a="http://schemas.openxmlformats.org/drawingml/2006/main" noGrp="1"/>
          </p:cNvSpPr>
          <p:nvPr/>
        </p:nvSpPr>
        <p:spPr>
          <a:xfrm xmlns:a="http://schemas.openxmlformats.org/drawingml/2006/main">
            <a:off x="4686300"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6640FF32-E68B-4F12-9F86-FC03C0CD563B}"/>
              </a:ext>
            </a:extLst>
          </p:cNvPr>
          <p:cNvSpPr>
            <a:spLocks xmlns:a="http://schemas.openxmlformats.org/drawingml/2006/main" noGrp="1"/>
          </p:cNvSpPr>
          <p:nvPr/>
        </p:nvSpPr>
        <p:spPr>
          <a:xfrm xmlns:a="http://schemas.openxmlformats.org/drawingml/2006/main">
            <a:off x="5219700" y="25431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QR-Code scannen</a:t>
            </a:r>
          </a:p>
        </p:txBody>
      </p:sp>
      <p:sp>
        <p:nvSpPr>
          <p:cNvPr id="14" name="">
            <a:extLst xmlns:a="http://schemas.openxmlformats.org/drawingml/2006/main">
              <a:ext uri="{FF2B5EF4-FFF2-40B4-BE49-F238E27FC236}">
                <a16:creationId xmlns:a16="http://schemas.microsoft.com/office/drawing/2014/main" id="{B7427172-F0DC-44BE-8637-447101F8A4BF}"/>
              </a:ext>
            </a:extLst>
          </p:cNvPr>
          <p:cNvSpPr>
            <a:spLocks xmlns:a="http://schemas.openxmlformats.org/drawingml/2006/main" noGrp="1"/>
          </p:cNvSpPr>
          <p:nvPr/>
        </p:nvSpPr>
        <p:spPr>
          <a:xfrm xmlns:a="http://schemas.openxmlformats.org/drawingml/2006/main">
            <a:off x="5219700" y="2962275"/>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Das Smartphone uebernimmt den persoenlichen Token fuer diese Anmeldung.</a:t>
            </a:r>
          </a:p>
        </p:txBody>
      </p:sp>
      <p:sp>
        <p:nvSpPr>
          <p:cNvPr id="15" name="">
            <a:extLst xmlns:a="http://schemas.openxmlformats.org/drawingml/2006/main">
              <a:ext uri="{FF2B5EF4-FFF2-40B4-BE49-F238E27FC236}">
                <a16:creationId xmlns:a16="http://schemas.microsoft.com/office/drawing/2014/main" id="{542E7E65-8AAD-46CE-9043-CE67233DEDE9}"/>
              </a:ext>
            </a:extLst>
          </p:cNvPr>
          <p:cNvSpPr>
            <a:spLocks xmlns:a="http://schemas.openxmlformats.org/drawingml/2006/main" noGrp="1"/>
          </p:cNvSpPr>
          <p:nvPr/>
        </p:nvSpPr>
        <p:spPr>
          <a:xfrm xmlns:a="http://schemas.openxmlformats.org/drawingml/2006/main">
            <a:off x="8267700" y="2333625"/>
            <a:ext cx="3238500" cy="1714500"/>
          </a:xfrm>
          <a:prstGeom xmlns:a="http://schemas.openxmlformats.org/drawingml/2006/main" prst="roundRect">
            <a:avLst>
              <a:gd name="adj" fmla="val 6667"/>
            </a:avLst>
          </a:prstGeom>
          <a:solidFill xmlns:a="http://schemas.openxmlformats.org/drawingml/2006/main">
            <a:srgbClr val="EEF5FF"/>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C5EB54AC-95D2-43DE-86A4-89C0B3E9A9CE}"/>
              </a:ext>
            </a:extLst>
          </p:cNvPr>
          <p:cNvSpPr>
            <a:spLocks xmlns:a="http://schemas.openxmlformats.org/drawingml/2006/main" noGrp="1"/>
          </p:cNvSpPr>
          <p:nvPr/>
        </p:nvSpPr>
        <p:spPr>
          <a:xfrm xmlns:a="http://schemas.openxmlformats.org/drawingml/2006/main">
            <a:off x="8477250"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7" name="">
            <a:extLst xmlns:a="http://schemas.openxmlformats.org/drawingml/2006/main">
              <a:ext uri="{FF2B5EF4-FFF2-40B4-BE49-F238E27FC236}">
                <a16:creationId xmlns:a16="http://schemas.microsoft.com/office/drawing/2014/main" id="{81DDC6A7-7110-4C50-A7A3-E04718FEE99C}"/>
              </a:ext>
            </a:extLst>
          </p:cNvPr>
          <p:cNvSpPr>
            <a:spLocks xmlns:a="http://schemas.openxmlformats.org/drawingml/2006/main" noGrp="1"/>
          </p:cNvSpPr>
          <p:nvPr/>
        </p:nvSpPr>
        <p:spPr>
          <a:xfrm xmlns:a="http://schemas.openxmlformats.org/drawingml/2006/main">
            <a:off x="8477250"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56708474-26B3-42C8-9A8B-4DBDB179E03C}"/>
              </a:ext>
            </a:extLst>
          </p:cNvPr>
          <p:cNvSpPr>
            <a:spLocks xmlns:a="http://schemas.openxmlformats.org/drawingml/2006/main" noGrp="1"/>
          </p:cNvSpPr>
          <p:nvPr/>
        </p:nvSpPr>
        <p:spPr>
          <a:xfrm xmlns:a="http://schemas.openxmlformats.org/drawingml/2006/main">
            <a:off x="9010650" y="25431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Handy wird Ticket</a:t>
            </a:r>
          </a:p>
        </p:txBody>
      </p:sp>
      <p:sp>
        <p:nvSpPr>
          <p:cNvPr id="19" name="">
            <a:extLst xmlns:a="http://schemas.openxmlformats.org/drawingml/2006/main">
              <a:ext uri="{FF2B5EF4-FFF2-40B4-BE49-F238E27FC236}">
                <a16:creationId xmlns:a16="http://schemas.microsoft.com/office/drawing/2014/main" id="{40B6F52A-EA33-40F4-AA4D-D361489278A9}"/>
              </a:ext>
            </a:extLst>
          </p:cNvPr>
          <p:cNvSpPr>
            <a:spLocks xmlns:a="http://schemas.openxmlformats.org/drawingml/2006/main" noGrp="1"/>
          </p:cNvSpPr>
          <p:nvPr/>
        </p:nvSpPr>
        <p:spPr>
          <a:xfrm xmlns:a="http://schemas.openxmlformats.org/drawingml/2006/main">
            <a:off x="9010650" y="2962275"/>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Das System kann dieses Handy der konkreten Anmeldung und dem Event zuordnen.</a:t>
            </a:r>
          </a:p>
        </p:txBody>
      </p:sp>
      <p:sp>
        <p:nvSpPr>
          <p:cNvPr id="20" name="">
            <a:extLst xmlns:a="http://schemas.openxmlformats.org/drawingml/2006/main">
              <a:ext uri="{FF2B5EF4-FFF2-40B4-BE49-F238E27FC236}">
                <a16:creationId xmlns:a16="http://schemas.microsoft.com/office/drawing/2014/main" id="{CAB0E308-ABA7-4AE4-951B-B2669EB244D1}"/>
              </a:ext>
            </a:extLst>
          </p:cNvPr>
          <p:cNvSpPr>
            <a:spLocks xmlns:a="http://schemas.openxmlformats.org/drawingml/2006/main" noGrp="1"/>
          </p:cNvSpPr>
          <p:nvPr/>
        </p:nvSpPr>
        <p:spPr>
          <a:xfrm xmlns:a="http://schemas.openxmlformats.org/drawingml/2006/main">
            <a:off x="1809750" y="47625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71A33"/>
                </a:solidFill>
              </a:defRPr>
            </a:pPr>
            <a:r>
              <a:rPr sz="2100" b="1">
                <a:solidFill>
                  <a:srgbClr val="071A33"/>
                </a:solidFill>
              </a:rPr>
              <a:t>Der QR-Code ist die Uebergabe, nicht das Ticket selbst.</a:t>
            </a:r>
          </a:p>
        </p:txBody>
      </p:sp>
    </p:spTree>
    <p:extLst>
      <p:ext uri="{BB962C8B-B14F-4D97-AF65-F5344CB8AC3E}">
        <p14:creationId xmlns:p14="http://schemas.microsoft.com/office/powerpoint/2010/main" val="1862946865"/>
      </p:ext>
    </p:extLst>
  </p:cSld>
</p:sld>
</file>

<file path=ppt/slides/slide10.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AC3BB9-E718-4C7F-BD0D-337931B14090}"/>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PROFESSIONELLER CHECK-IN</a:t>
            </a:r>
          </a:p>
        </p:txBody>
      </p:sp>
      <p:sp>
        <p:nvSpPr>
          <p:cNvPr id="2" name="">
            <a:extLst xmlns:a="http://schemas.openxmlformats.org/drawingml/2006/main">
              <a:ext uri="{FF2B5EF4-FFF2-40B4-BE49-F238E27FC236}">
                <a16:creationId xmlns:a16="http://schemas.microsoft.com/office/drawing/2014/main" id="{8D64392D-6192-4882-B6D3-726DBDC24497}"/>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Der Einlass erkennt das Handy und begruesst den Gast</a:t>
            </a:r>
          </a:p>
        </p:txBody>
      </p:sp>
      <p:sp>
        <p:nvSpPr>
          <p:cNvPr id="3" name="">
            <a:extLst xmlns:a="http://schemas.openxmlformats.org/drawingml/2006/main">
              <a:ext uri="{FF2B5EF4-FFF2-40B4-BE49-F238E27FC236}">
                <a16:creationId xmlns:a16="http://schemas.microsoft.com/office/drawing/2014/main" id="{F0E84A4E-6AB3-43CC-9BCA-5F96407F0CA9}"/>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4E8067A0-0C2A-4F0F-A3C6-ABF887CA9263}"/>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10</a:t>
            </a:r>
          </a:p>
        </p:txBody>
      </p:sp>
      <p:sp>
        <p:nvSpPr>
          <p:cNvPr id="5" name="">
            <a:extLst xmlns:a="http://schemas.openxmlformats.org/drawingml/2006/main">
              <a:ext uri="{FF2B5EF4-FFF2-40B4-BE49-F238E27FC236}">
                <a16:creationId xmlns:a16="http://schemas.microsoft.com/office/drawing/2014/main" id="{12F16C4F-C364-4FC6-99E3-4D4B17C9F1DA}"/>
              </a:ext>
            </a:extLst>
          </p:cNvPr>
          <p:cNvSpPr>
            <a:spLocks xmlns:a="http://schemas.openxmlformats.org/drawingml/2006/main" noGrp="1"/>
          </p:cNvSpPr>
          <p:nvPr/>
        </p:nvSpPr>
        <p:spPr>
          <a:xfrm xmlns:a="http://schemas.openxmlformats.org/drawingml/2006/main">
            <a:off x="1238250" y="2286000"/>
            <a:ext cx="9715500" cy="2571750"/>
          </a:xfrm>
          <a:prstGeom xmlns:a="http://schemas.openxmlformats.org/drawingml/2006/main" prst="roundRect">
            <a:avLst>
              <a:gd name="adj" fmla="val 4444"/>
            </a:avLst>
          </a:prstGeom>
          <a:solidFill xmlns:a="http://schemas.openxmlformats.org/drawingml/2006/main">
            <a:srgbClr val="071A33"/>
          </a:solidFill>
          <a:ln xmlns:a="http://schemas.openxmlformats.org/drawingml/2006/main" w="9525">
            <a:solidFill>
              <a:srgbClr val="071A33"/>
            </a:solidFill>
            <a:prstDash val="solid"/>
          </a:ln>
        </p:spPr>
      </p:sp>
      <p:sp>
        <p:nvSpPr>
          <p:cNvPr id="6" name="">
            <a:extLst xmlns:a="http://schemas.openxmlformats.org/drawingml/2006/main">
              <a:ext uri="{FF2B5EF4-FFF2-40B4-BE49-F238E27FC236}">
                <a16:creationId xmlns:a16="http://schemas.microsoft.com/office/drawing/2014/main" id="{4A323E76-BBC9-4D15-92B7-DA78162F3CE1}"/>
              </a:ext>
            </a:extLst>
          </p:cNvPr>
          <p:cNvSpPr>
            <a:spLocks xmlns:a="http://schemas.openxmlformats.org/drawingml/2006/main" noGrp="1"/>
          </p:cNvSpPr>
          <p:nvPr/>
        </p:nvSpPr>
        <p:spPr>
          <a:xfrm xmlns:a="http://schemas.openxmlformats.org/drawingml/2006/main">
            <a:off x="1809750" y="271462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a:solidFill>
                  <a:srgbClr val="FFFFFF"/>
                </a:solidFill>
              </a:defRPr>
            </a:pPr>
            <a:r>
              <a:rPr sz="3000" b="1">
                <a:solidFill>
                  <a:srgbClr val="FFFFFF"/>
                </a:solidFill>
              </a:rPr>
              <a:t>Willkommen, Martina Becker</a:t>
            </a:r>
          </a:p>
        </p:txBody>
      </p:sp>
      <p:sp>
        <p:nvSpPr>
          <p:cNvPr id="7" name="">
            <a:extLst xmlns:a="http://schemas.openxmlformats.org/drawingml/2006/main">
              <a:ext uri="{FF2B5EF4-FFF2-40B4-BE49-F238E27FC236}">
                <a16:creationId xmlns:a16="http://schemas.microsoft.com/office/drawing/2014/main" id="{12DF6B3C-2A6C-4C19-B83F-8F15683C8DC7}"/>
              </a:ext>
            </a:extLst>
          </p:cNvPr>
          <p:cNvSpPr>
            <a:spLocks xmlns:a="http://schemas.openxmlformats.org/drawingml/2006/main" noGrp="1"/>
          </p:cNvSpPr>
          <p:nvPr/>
        </p:nvSpPr>
        <p:spPr>
          <a:xfrm xmlns:a="http://schemas.openxmlformats.org/drawingml/2006/main">
            <a:off x="2095500" y="3476625"/>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a:solidFill>
                  <a:srgbClr val="D9E4F2"/>
                </a:solidFill>
              </a:defRPr>
            </a:pPr>
            <a:r>
              <a:rPr sz="1725" b="0">
                <a:solidFill>
                  <a:srgbClr val="D9E4F2"/>
                </a:solidFill>
              </a:rPr>
              <a:t>PROdigitalTV Medienfruehstueck · Status: angemeldet · Check-in bereit</a:t>
            </a:r>
          </a:p>
        </p:txBody>
      </p:sp>
      <p:sp>
        <p:nvSpPr>
          <p:cNvPr id="8" name="">
            <a:extLst xmlns:a="http://schemas.openxmlformats.org/drawingml/2006/main">
              <a:ext uri="{FF2B5EF4-FFF2-40B4-BE49-F238E27FC236}">
                <a16:creationId xmlns:a16="http://schemas.microsoft.com/office/drawing/2014/main" id="{9A448F2B-454E-41D9-B13A-5481DCECB7F7}"/>
              </a:ext>
            </a:extLst>
          </p:cNvPr>
          <p:cNvSpPr>
            <a:spLocks xmlns:a="http://schemas.openxmlformats.org/drawingml/2006/main" noGrp="1"/>
          </p:cNvSpPr>
          <p:nvPr/>
        </p:nvSpPr>
        <p:spPr>
          <a:xfrm xmlns:a="http://schemas.openxmlformats.org/drawingml/2006/main">
            <a:off x="5381625" y="4143375"/>
            <a:ext cx="1428750" cy="57150"/>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prstDash val="solid"/>
          </a:ln>
        </p:spPr>
      </p:sp>
      <p:sp>
        <p:nvSpPr>
          <p:cNvPr id="9" name="">
            <a:extLst xmlns:a="http://schemas.openxmlformats.org/drawingml/2006/main">
              <a:ext uri="{FF2B5EF4-FFF2-40B4-BE49-F238E27FC236}">
                <a16:creationId xmlns:a16="http://schemas.microsoft.com/office/drawing/2014/main" id="{6169BC6E-16B4-45C1-BA59-80F83EF3588A}"/>
              </a:ext>
            </a:extLst>
          </p:cNvPr>
          <p:cNvSpPr>
            <a:spLocks xmlns:a="http://schemas.openxmlformats.org/drawingml/2006/main" noGrp="1"/>
          </p:cNvSpPr>
          <p:nvPr/>
        </p:nvSpPr>
        <p:spPr>
          <a:xfrm xmlns:a="http://schemas.openxmlformats.org/drawingml/2006/main">
            <a:off x="2000250" y="447675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Schneller Einlass, persoenlicher Empfang, sauberer Teilnehmerstatus.</a:t>
            </a:r>
          </a:p>
        </p:txBody>
      </p:sp>
    </p:spTree>
    <p:extLst>
      <p:ext uri="{BB962C8B-B14F-4D97-AF65-F5344CB8AC3E}">
        <p14:creationId xmlns:p14="http://schemas.microsoft.com/office/powerpoint/2010/main" val="812579339"/>
      </p:ext>
    </p:extLst>
  </p:cSld>
</p:sld>
</file>

<file path=ppt/slides/slide11.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2D20CE-00D3-4788-93FD-808A309915F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EVENTDURCHFUEHRUNG</a:t>
            </a:r>
          </a:p>
        </p:txBody>
      </p:sp>
      <p:sp>
        <p:nvSpPr>
          <p:cNvPr id="2" name="">
            <a:extLst xmlns:a="http://schemas.openxmlformats.org/drawingml/2006/main">
              <a:ext uri="{FF2B5EF4-FFF2-40B4-BE49-F238E27FC236}">
                <a16:creationId xmlns:a16="http://schemas.microsoft.com/office/drawing/2014/main" id="{006F5BB7-AB5F-417F-A4BD-D3DA4F495198}"/>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Das System begleitet den Ablauf vor Ort</a:t>
            </a:r>
          </a:p>
        </p:txBody>
      </p:sp>
      <p:sp>
        <p:nvSpPr>
          <p:cNvPr id="3" name="">
            <a:extLst xmlns:a="http://schemas.openxmlformats.org/drawingml/2006/main">
              <a:ext uri="{FF2B5EF4-FFF2-40B4-BE49-F238E27FC236}">
                <a16:creationId xmlns:a16="http://schemas.microsoft.com/office/drawing/2014/main" id="{140B1227-160C-4D42-BAB2-8846D8E83EBA}"/>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94AB815F-6E3F-4405-9803-133AD07FD39E}"/>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11</a:t>
            </a:r>
          </a:p>
        </p:txBody>
      </p:sp>
      <p:sp>
        <p:nvSpPr>
          <p:cNvPr id="5" name="">
            <a:extLst xmlns:a="http://schemas.openxmlformats.org/drawingml/2006/main">
              <a:ext uri="{FF2B5EF4-FFF2-40B4-BE49-F238E27FC236}">
                <a16:creationId xmlns:a16="http://schemas.microsoft.com/office/drawing/2014/main" id="{1C93B3F0-A09D-45A3-9FB6-2A284B09E9AF}"/>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255F7CB8-0ED4-4B27-AFAF-A729934253A8}"/>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Check-in und Einlasskontrolle</a:t>
            </a:r>
          </a:p>
        </p:txBody>
      </p:sp>
      <p:sp>
        <p:nvSpPr>
          <p:cNvPr id="7" name="">
            <a:extLst xmlns:a="http://schemas.openxmlformats.org/drawingml/2006/main">
              <a:ext uri="{FF2B5EF4-FFF2-40B4-BE49-F238E27FC236}">
                <a16:creationId xmlns:a16="http://schemas.microsoft.com/office/drawing/2014/main" id="{4C61E03C-F10A-45FF-A3AE-A389B955CD07}"/>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426512A9-02DA-4C42-A220-7726498D579B}"/>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Status: angemeldet, Warteliste, eingecheckt</a:t>
            </a:r>
          </a:p>
        </p:txBody>
      </p:sp>
      <p:sp>
        <p:nvSpPr>
          <p:cNvPr id="9" name="">
            <a:extLst xmlns:a="http://schemas.openxmlformats.org/drawingml/2006/main">
              <a:ext uri="{FF2B5EF4-FFF2-40B4-BE49-F238E27FC236}">
                <a16:creationId xmlns:a16="http://schemas.microsoft.com/office/drawing/2014/main" id="{F558B659-7D25-4202-9C02-1FD5548ADFFE}"/>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8A93541D-731C-4D4F-B03E-9AF58E0AF781}"/>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Eventkontakte und Teilnehmerdaten im Blick</a:t>
            </a:r>
          </a:p>
        </p:txBody>
      </p:sp>
      <p:sp>
        <p:nvSpPr>
          <p:cNvPr id="11" name="">
            <a:extLst xmlns:a="http://schemas.openxmlformats.org/drawingml/2006/main">
              <a:ext uri="{FF2B5EF4-FFF2-40B4-BE49-F238E27FC236}">
                <a16:creationId xmlns:a16="http://schemas.microsoft.com/office/drawing/2014/main" id="{2D70DDF7-18B7-43B9-97FD-29CC1277D1E5}"/>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A273DBC9-8E0E-418A-AF50-25AEE0E07ADA}"/>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Foto-Upload durch Mitglieder waehrend oder nach dem Event</a:t>
            </a:r>
          </a:p>
        </p:txBody>
      </p:sp>
    </p:spTree>
    <p:extLst>
      <p:ext uri="{BB962C8B-B14F-4D97-AF65-F5344CB8AC3E}">
        <p14:creationId xmlns:p14="http://schemas.microsoft.com/office/powerpoint/2010/main" val="1955042646"/>
      </p:ext>
    </p:extLst>
  </p:cSld>
</p:sld>
</file>

<file path=ppt/slides/slide12.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684385-6CF1-4042-994D-1470983C1953}"/>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NACHKOMMUNIKATION</a:t>
            </a:r>
          </a:p>
        </p:txBody>
      </p:sp>
      <p:sp>
        <p:nvSpPr>
          <p:cNvPr id="2" name="">
            <a:extLst xmlns:a="http://schemas.openxmlformats.org/drawingml/2006/main">
              <a:ext uri="{FF2B5EF4-FFF2-40B4-BE49-F238E27FC236}">
                <a16:creationId xmlns:a16="http://schemas.microsoft.com/office/drawing/2014/main" id="{51D2E065-C336-4207-BA4C-F3C239AB6853}"/>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Teilnehmer bleiben nach dem Event erreichbar</a:t>
            </a:r>
          </a:p>
        </p:txBody>
      </p:sp>
      <p:sp>
        <p:nvSpPr>
          <p:cNvPr id="3" name="">
            <a:extLst xmlns:a="http://schemas.openxmlformats.org/drawingml/2006/main">
              <a:ext uri="{FF2B5EF4-FFF2-40B4-BE49-F238E27FC236}">
                <a16:creationId xmlns:a16="http://schemas.microsoft.com/office/drawing/2014/main" id="{98D25254-D682-4458-B918-80FF47D6BDE7}"/>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06C64B15-B196-4842-B0E3-64CF9F8FDFD7}"/>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12</a:t>
            </a:r>
          </a:p>
        </p:txBody>
      </p:sp>
      <p:sp>
        <p:nvSpPr>
          <p:cNvPr id="5" name="">
            <a:extLst xmlns:a="http://schemas.openxmlformats.org/drawingml/2006/main">
              <a:ext uri="{FF2B5EF4-FFF2-40B4-BE49-F238E27FC236}">
                <a16:creationId xmlns:a16="http://schemas.microsoft.com/office/drawing/2014/main" id="{9217E335-CA53-47AC-822F-952F3980FF16}"/>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1B47D85E-351F-4F88-856A-48FB1F08E5BF}"/>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Dankesmail und Rueckblick</a:t>
            </a:r>
          </a:p>
        </p:txBody>
      </p:sp>
      <p:sp>
        <p:nvSpPr>
          <p:cNvPr id="7" name="">
            <a:extLst xmlns:a="http://schemas.openxmlformats.org/drawingml/2006/main">
              <a:ext uri="{FF2B5EF4-FFF2-40B4-BE49-F238E27FC236}">
                <a16:creationId xmlns:a16="http://schemas.microsoft.com/office/drawing/2014/main" id="{8DCB1BA9-D304-4B7D-8EF5-F6A74F3783D5}"/>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EAF33B85-5DE8-48C7-971D-CFF68B4728D7}"/>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Fotogalerie und redaktioneller Nachbericht</a:t>
            </a:r>
          </a:p>
        </p:txBody>
      </p:sp>
      <p:sp>
        <p:nvSpPr>
          <p:cNvPr id="9" name="">
            <a:extLst xmlns:a="http://schemas.openxmlformats.org/drawingml/2006/main">
              <a:ext uri="{FF2B5EF4-FFF2-40B4-BE49-F238E27FC236}">
                <a16:creationId xmlns:a16="http://schemas.microsoft.com/office/drawing/2014/main" id="{A058477B-3695-4196-A1EB-FAD67218E477}"/>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558534A9-A7F0-4DE2-98F5-C32023FEE6B7}"/>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Hinweise auf Robo-Themen und Referentenprofile</a:t>
            </a:r>
          </a:p>
        </p:txBody>
      </p:sp>
      <p:sp>
        <p:nvSpPr>
          <p:cNvPr id="11" name="">
            <a:extLst xmlns:a="http://schemas.openxmlformats.org/drawingml/2006/main">
              <a:ext uri="{FF2B5EF4-FFF2-40B4-BE49-F238E27FC236}">
                <a16:creationId xmlns:a16="http://schemas.microsoft.com/office/drawing/2014/main" id="{1548DA2B-0C8D-4599-B1C4-1DA443E5F211}"/>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5C350416-A2C7-421A-B8BB-7C3D3D816E62}"/>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Einladung zu thematisch passenden Folgeevents</a:t>
            </a:r>
          </a:p>
        </p:txBody>
      </p:sp>
    </p:spTree>
    <p:extLst>
      <p:ext uri="{BB962C8B-B14F-4D97-AF65-F5344CB8AC3E}">
        <p14:creationId xmlns:p14="http://schemas.microsoft.com/office/powerpoint/2010/main" val="1261783839"/>
      </p:ext>
    </p:extLst>
  </p:cSld>
</p:sld>
</file>

<file path=ppt/slides/slide13.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79DB12-8722-4714-9F3D-086C1471578F}"/>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ROBO-THEMEN</a:t>
            </a:r>
          </a:p>
        </p:txBody>
      </p:sp>
      <p:sp>
        <p:nvSpPr>
          <p:cNvPr id="2" name="">
            <a:extLst xmlns:a="http://schemas.openxmlformats.org/drawingml/2006/main">
              <a:ext uri="{FF2B5EF4-FFF2-40B4-BE49-F238E27FC236}">
                <a16:creationId xmlns:a16="http://schemas.microsoft.com/office/drawing/2014/main" id="{00C57118-1D3E-4B6E-8539-A444BEAD6D29}"/>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Vortraege werden zu dauerhaften Fachbeitraegen</a:t>
            </a:r>
          </a:p>
        </p:txBody>
      </p:sp>
      <p:sp>
        <p:nvSpPr>
          <p:cNvPr id="3" name="">
            <a:extLst xmlns:a="http://schemas.openxmlformats.org/drawingml/2006/main">
              <a:ext uri="{FF2B5EF4-FFF2-40B4-BE49-F238E27FC236}">
                <a16:creationId xmlns:a16="http://schemas.microsoft.com/office/drawing/2014/main" id="{F14F19DA-4FFC-4B19-B08F-F9107C9DEBD9}"/>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5870C672-016C-4EED-8F2F-B1DF76C0BE94}"/>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13</a:t>
            </a:r>
          </a:p>
        </p:txBody>
      </p:sp>
      <p:sp>
        <p:nvSpPr>
          <p:cNvPr id="5" name="">
            <a:extLst xmlns:a="http://schemas.openxmlformats.org/drawingml/2006/main">
              <a:ext uri="{FF2B5EF4-FFF2-40B4-BE49-F238E27FC236}">
                <a16:creationId xmlns:a16="http://schemas.microsoft.com/office/drawing/2014/main" id="{7B0B9E24-AD65-4AF5-9C33-B35D3ECF1A76}"/>
              </a:ext>
            </a:extLst>
          </p:cNvPr>
          <p:cNvSpPr>
            <a:spLocks xmlns:a="http://schemas.openxmlformats.org/drawingml/2006/main" noGrp="1"/>
          </p:cNvSpPr>
          <p:nvPr/>
        </p:nvSpPr>
        <p:spPr>
          <a:xfrm xmlns:a="http://schemas.openxmlformats.org/drawingml/2006/main">
            <a:off x="1047750" y="238125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Keine beliebige Newsrubrik</a:t>
            </a:r>
          </a:p>
        </p:txBody>
      </p:sp>
      <p:sp>
        <p:nvSpPr>
          <p:cNvPr id="6" name="">
            <a:extLst xmlns:a="http://schemas.openxmlformats.org/drawingml/2006/main">
              <a:ext uri="{FF2B5EF4-FFF2-40B4-BE49-F238E27FC236}">
                <a16:creationId xmlns:a16="http://schemas.microsoft.com/office/drawing/2014/main" id="{E840282B-8604-4110-9834-FEB6759049F0}"/>
              </a:ext>
            </a:extLst>
          </p:cNvPr>
          <p:cNvSpPr>
            <a:spLocks xmlns:a="http://schemas.openxmlformats.org/drawingml/2006/main" noGrp="1"/>
          </p:cNvSpPr>
          <p:nvPr/>
        </p:nvSpPr>
        <p:spPr>
          <a:xfrm xmlns:a="http://schemas.openxmlformats.org/drawingml/2006/main">
            <a:off x="1047750" y="2952750"/>
            <a:ext cx="438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E6B7F"/>
                </a:solidFill>
              </a:defRPr>
            </a:pPr>
            <a:r>
              <a:rPr sz="1725" b="0">
                <a:solidFill>
                  <a:srgbClr val="5E6B7F"/>
                </a:solidFill>
              </a:rPr>
              <a:t>Robo-Themen sind den Vortraegen der Medienfruehstuecke vorbehalten.</a:t>
            </a:r>
          </a:p>
        </p:txBody>
      </p:sp>
      <p:sp>
        <p:nvSpPr>
          <p:cNvPr id="7" name="">
            <a:extLst xmlns:a="http://schemas.openxmlformats.org/drawingml/2006/main">
              <a:ext uri="{FF2B5EF4-FFF2-40B4-BE49-F238E27FC236}">
                <a16:creationId xmlns:a16="http://schemas.microsoft.com/office/drawing/2014/main" id="{4E1C1FEB-7507-41D9-824A-3C691BB5AEC4}"/>
              </a:ext>
            </a:extLst>
          </p:cNvPr>
          <p:cNvSpPr>
            <a:spLocks xmlns:a="http://schemas.openxmlformats.org/drawingml/2006/main" noGrp="1"/>
          </p:cNvSpPr>
          <p:nvPr/>
        </p:nvSpPr>
        <p:spPr>
          <a:xfrm xmlns:a="http://schemas.openxmlformats.org/drawingml/2006/main">
            <a:off x="6667500" y="238125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Dauerhaft auffindbar</a:t>
            </a:r>
          </a:p>
        </p:txBody>
      </p:sp>
      <p:sp>
        <p:nvSpPr>
          <p:cNvPr id="8" name="">
            <a:extLst xmlns:a="http://schemas.openxmlformats.org/drawingml/2006/main">
              <a:ext uri="{FF2B5EF4-FFF2-40B4-BE49-F238E27FC236}">
                <a16:creationId xmlns:a16="http://schemas.microsoft.com/office/drawing/2014/main" id="{6C3CF4B9-D4F3-4866-8E74-498105F45FFD}"/>
              </a:ext>
            </a:extLst>
          </p:cNvPr>
          <p:cNvSpPr>
            <a:spLocks xmlns:a="http://schemas.openxmlformats.org/drawingml/2006/main" noGrp="1"/>
          </p:cNvSpPr>
          <p:nvPr/>
        </p:nvSpPr>
        <p:spPr>
          <a:xfrm xmlns:a="http://schemas.openxmlformats.org/drawingml/2006/main">
            <a:off x="6667500" y="2952750"/>
            <a:ext cx="438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E6B7F"/>
                </a:solidFill>
              </a:defRPr>
            </a:pPr>
            <a:r>
              <a:rPr sz="1725" b="0">
                <a:solidFill>
                  <a:srgbClr val="5E6B7F"/>
                </a:solidFill>
              </a:rPr>
              <a:t>Aus einem Vortrag wird ein teilbarer, zitierbarer Fachbeitrag.</a:t>
            </a:r>
          </a:p>
        </p:txBody>
      </p:sp>
      <p:sp>
        <p:nvSpPr>
          <p:cNvPr id="9" name="">
            <a:extLst xmlns:a="http://schemas.openxmlformats.org/drawingml/2006/main">
              <a:ext uri="{FF2B5EF4-FFF2-40B4-BE49-F238E27FC236}">
                <a16:creationId xmlns:a16="http://schemas.microsoft.com/office/drawing/2014/main" id="{09CE7A53-2D78-4519-AC85-19A301A59E67}"/>
              </a:ext>
            </a:extLst>
          </p:cNvPr>
          <p:cNvSpPr>
            <a:spLocks xmlns:a="http://schemas.openxmlformats.org/drawingml/2006/main" noGrp="1"/>
          </p:cNvSpPr>
          <p:nvPr/>
        </p:nvSpPr>
        <p:spPr>
          <a:xfrm xmlns:a="http://schemas.openxmlformats.org/drawingml/2006/main">
            <a:off x="1047750" y="4191000"/>
            <a:ext cx="1143000" cy="57150"/>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A5BE5243-9227-43F5-B93C-4CB59C7A3927}"/>
              </a:ext>
            </a:extLst>
          </p:cNvPr>
          <p:cNvSpPr>
            <a:spLocks xmlns:a="http://schemas.openxmlformats.org/drawingml/2006/main" noGrp="1"/>
          </p:cNvSpPr>
          <p:nvPr/>
        </p:nvSpPr>
        <p:spPr>
          <a:xfrm xmlns:a="http://schemas.openxmlformats.org/drawingml/2006/main">
            <a:off x="1047750" y="452437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71A33"/>
                </a:solidFill>
              </a:defRPr>
            </a:pPr>
            <a:r>
              <a:rPr sz="2025" b="1">
                <a:solidFill>
                  <a:srgbClr val="071A33"/>
                </a:solidFill>
              </a:rPr>
              <a:t>Die Plattform verlaengert die Wirkung der Medienfruehstuecke redaktionell.</a:t>
            </a:r>
          </a:p>
        </p:txBody>
      </p:sp>
    </p:spTree>
    <p:extLst>
      <p:ext uri="{BB962C8B-B14F-4D97-AF65-F5344CB8AC3E}">
        <p14:creationId xmlns:p14="http://schemas.microsoft.com/office/powerpoint/2010/main" val="1223130862"/>
      </p:ext>
    </p:extLst>
  </p:cSld>
</p:sld>
</file>

<file path=ppt/slides/slide14.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922D9B-4204-427E-A9E7-667F222EFAD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REFERENTENBUEHNE</a:t>
            </a:r>
          </a:p>
        </p:txBody>
      </p:sp>
      <p:sp>
        <p:nvSpPr>
          <p:cNvPr id="2" name="">
            <a:extLst xmlns:a="http://schemas.openxmlformats.org/drawingml/2006/main">
              <a:ext uri="{FF2B5EF4-FFF2-40B4-BE49-F238E27FC236}">
                <a16:creationId xmlns:a16="http://schemas.microsoft.com/office/drawing/2014/main" id="{558B9E7F-62EF-40AC-86FC-B39C3EFD2FC8}"/>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Die fachlichen Koepfe werden sichtbar</a:t>
            </a:r>
          </a:p>
        </p:txBody>
      </p:sp>
      <p:sp>
        <p:nvSpPr>
          <p:cNvPr id="3" name="">
            <a:extLst xmlns:a="http://schemas.openxmlformats.org/drawingml/2006/main">
              <a:ext uri="{FF2B5EF4-FFF2-40B4-BE49-F238E27FC236}">
                <a16:creationId xmlns:a16="http://schemas.microsoft.com/office/drawing/2014/main" id="{46246922-065E-430A-B07A-F639B7C47C4E}"/>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EB49D792-A111-4037-8559-45265C14139E}"/>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14</a:t>
            </a:r>
          </a:p>
        </p:txBody>
      </p:sp>
      <p:sp>
        <p:nvSpPr>
          <p:cNvPr id="5" name="">
            <a:extLst xmlns:a="http://schemas.openxmlformats.org/drawingml/2006/main">
              <a:ext uri="{FF2B5EF4-FFF2-40B4-BE49-F238E27FC236}">
                <a16:creationId xmlns:a16="http://schemas.microsoft.com/office/drawing/2014/main" id="{14775C56-77E4-4AC2-B505-C821E8005B91}"/>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C0529282-05F2-429A-8F70-591324173FD4}"/>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Foto und Vita</a:t>
            </a:r>
          </a:p>
        </p:txBody>
      </p:sp>
      <p:sp>
        <p:nvSpPr>
          <p:cNvPr id="7" name="">
            <a:extLst xmlns:a="http://schemas.openxmlformats.org/drawingml/2006/main">
              <a:ext uri="{FF2B5EF4-FFF2-40B4-BE49-F238E27FC236}">
                <a16:creationId xmlns:a16="http://schemas.microsoft.com/office/drawing/2014/main" id="{79954068-3BC9-4DE9-9919-6AB1F07B8628}"/>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95F896DC-7F3D-49F0-AAEC-8791D844C096}"/>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Unternehmen und Funktion</a:t>
            </a:r>
          </a:p>
        </p:txBody>
      </p:sp>
      <p:sp>
        <p:nvSpPr>
          <p:cNvPr id="9" name="">
            <a:extLst xmlns:a="http://schemas.openxmlformats.org/drawingml/2006/main">
              <a:ext uri="{FF2B5EF4-FFF2-40B4-BE49-F238E27FC236}">
                <a16:creationId xmlns:a16="http://schemas.microsoft.com/office/drawing/2014/main" id="{CDC2B7C5-F625-4700-8FE3-B75DE0FB8694}"/>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CC0D7082-E912-401D-B067-7D9497FC0819}"/>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Vortragstitel und Themenbeitrag</a:t>
            </a:r>
          </a:p>
        </p:txBody>
      </p:sp>
      <p:sp>
        <p:nvSpPr>
          <p:cNvPr id="11" name="">
            <a:extLst xmlns:a="http://schemas.openxmlformats.org/drawingml/2006/main">
              <a:ext uri="{FF2B5EF4-FFF2-40B4-BE49-F238E27FC236}">
                <a16:creationId xmlns:a16="http://schemas.microsoft.com/office/drawing/2014/main" id="{06FEB528-0D01-48C0-BB14-286F04AA8D74}"/>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DFEC1BEB-0112-4C9F-9892-30A7C21FD175}"/>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Profilseite und Verknuepfung zum Event</a:t>
            </a:r>
          </a:p>
        </p:txBody>
      </p:sp>
    </p:spTree>
    <p:extLst>
      <p:ext uri="{BB962C8B-B14F-4D97-AF65-F5344CB8AC3E}">
        <p14:creationId xmlns:p14="http://schemas.microsoft.com/office/powerpoint/2010/main" val="231407644"/>
      </p:ext>
    </p:extLst>
  </p:cSld>
</p:sld>
</file>

<file path=ppt/slides/slide15.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EA15EB-E803-4F2E-8F10-A68A9EEBD3F2}"/>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REDAKTION</a:t>
            </a:r>
          </a:p>
        </p:txBody>
      </p:sp>
      <p:sp>
        <p:nvSpPr>
          <p:cNvPr id="2" name="">
            <a:extLst xmlns:a="http://schemas.openxmlformats.org/drawingml/2006/main">
              <a:ext uri="{FF2B5EF4-FFF2-40B4-BE49-F238E27FC236}">
                <a16:creationId xmlns:a16="http://schemas.microsoft.com/office/drawing/2014/main" id="{1FA2DEBB-4485-4AEE-8BB5-2A9E69918990}"/>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Das CMS buendelt Text, Medien und Veroeffentlichung</a:t>
            </a:r>
          </a:p>
        </p:txBody>
      </p:sp>
      <p:sp>
        <p:nvSpPr>
          <p:cNvPr id="3" name="">
            <a:extLst xmlns:a="http://schemas.openxmlformats.org/drawingml/2006/main">
              <a:ext uri="{FF2B5EF4-FFF2-40B4-BE49-F238E27FC236}">
                <a16:creationId xmlns:a16="http://schemas.microsoft.com/office/drawing/2014/main" id="{38987C1A-391E-4E08-8B90-01012AEA7C5D}"/>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94AAFE54-5EAD-413E-B7B2-32942DD8840E}"/>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15</a:t>
            </a:r>
          </a:p>
        </p:txBody>
      </p:sp>
      <p:sp>
        <p:nvSpPr>
          <p:cNvPr id="5" name="">
            <a:extLst xmlns:a="http://schemas.openxmlformats.org/drawingml/2006/main">
              <a:ext uri="{FF2B5EF4-FFF2-40B4-BE49-F238E27FC236}">
                <a16:creationId xmlns:a16="http://schemas.microsoft.com/office/drawing/2014/main" id="{82729EFF-135E-427B-BFE6-67018A67DC79}"/>
              </a:ext>
            </a:extLst>
          </p:cNvPr>
          <p:cNvSpPr>
            <a:spLocks xmlns:a="http://schemas.openxmlformats.org/drawingml/2006/main" noGrp="1"/>
          </p:cNvSpPr>
          <p:nvPr/>
        </p:nvSpPr>
        <p:spPr>
          <a:xfrm xmlns:a="http://schemas.openxmlformats.org/drawingml/2006/main">
            <a:off x="857250" y="2286000"/>
            <a:ext cx="32385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1BF855A6-A8B4-483D-8722-209E75D9892D}"/>
              </a:ext>
            </a:extLst>
          </p:cNvPr>
          <p:cNvSpPr>
            <a:spLocks xmlns:a="http://schemas.openxmlformats.org/drawingml/2006/main" noGrp="1"/>
          </p:cNvSpPr>
          <p:nvPr/>
        </p:nvSpPr>
        <p:spPr>
          <a:xfrm xmlns:a="http://schemas.openxmlformats.org/drawingml/2006/main">
            <a:off x="1066800" y="24955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C88CF7EA-3532-4698-8FDC-6BD40B278EA0}"/>
              </a:ext>
            </a:extLst>
          </p:cNvPr>
          <p:cNvSpPr>
            <a:spLocks xmlns:a="http://schemas.openxmlformats.org/drawingml/2006/main" noGrp="1"/>
          </p:cNvSpPr>
          <p:nvPr/>
        </p:nvSpPr>
        <p:spPr>
          <a:xfrm xmlns:a="http://schemas.openxmlformats.org/drawingml/2006/main">
            <a:off x="1066800" y="25622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B17AE34C-E2E5-4083-8D92-1F3801DAB7BE}"/>
              </a:ext>
            </a:extLst>
          </p:cNvPr>
          <p:cNvSpPr>
            <a:spLocks xmlns:a="http://schemas.openxmlformats.org/drawingml/2006/main" noGrp="1"/>
          </p:cNvSpPr>
          <p:nvPr/>
        </p:nvSpPr>
        <p:spPr>
          <a:xfrm xmlns:a="http://schemas.openxmlformats.org/drawingml/2006/main">
            <a:off x="1600200" y="2495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News und Beitraege</a:t>
            </a:r>
          </a:p>
        </p:txBody>
      </p:sp>
      <p:sp>
        <p:nvSpPr>
          <p:cNvPr id="9" name="">
            <a:extLst xmlns:a="http://schemas.openxmlformats.org/drawingml/2006/main">
              <a:ext uri="{FF2B5EF4-FFF2-40B4-BE49-F238E27FC236}">
                <a16:creationId xmlns:a16="http://schemas.microsoft.com/office/drawing/2014/main" id="{170ED655-EC7C-443D-99FC-CBD82CAFD5BB}"/>
              </a:ext>
            </a:extLst>
          </p:cNvPr>
          <p:cNvSpPr>
            <a:spLocks xmlns:a="http://schemas.openxmlformats.org/drawingml/2006/main" noGrp="1"/>
          </p:cNvSpPr>
          <p:nvPr/>
        </p:nvSpPr>
        <p:spPr>
          <a:xfrm xmlns:a="http://schemas.openxmlformats.org/drawingml/2006/main">
            <a:off x="1600200" y="2914650"/>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Manuell, per Import oder mit KI-Unterstuetzung vorbereiten und veroeffentlichen.</a:t>
            </a:r>
          </a:p>
        </p:txBody>
      </p:sp>
      <p:sp>
        <p:nvSpPr>
          <p:cNvPr id="10" name="">
            <a:extLst xmlns:a="http://schemas.openxmlformats.org/drawingml/2006/main">
              <a:ext uri="{FF2B5EF4-FFF2-40B4-BE49-F238E27FC236}">
                <a16:creationId xmlns:a16="http://schemas.microsoft.com/office/drawing/2014/main" id="{B033F063-26E4-499A-B16F-0367CF500AA9}"/>
              </a:ext>
            </a:extLst>
          </p:cNvPr>
          <p:cNvSpPr>
            <a:spLocks xmlns:a="http://schemas.openxmlformats.org/drawingml/2006/main" noGrp="1"/>
          </p:cNvSpPr>
          <p:nvPr/>
        </p:nvSpPr>
        <p:spPr>
          <a:xfrm xmlns:a="http://schemas.openxmlformats.org/drawingml/2006/main">
            <a:off x="4476750" y="2286000"/>
            <a:ext cx="3238500" cy="1714500"/>
          </a:xfrm>
          <a:prstGeom xmlns:a="http://schemas.openxmlformats.org/drawingml/2006/main" prst="roundRect">
            <a:avLst>
              <a:gd name="adj" fmla="val 6667"/>
            </a:avLst>
          </a:prstGeom>
          <a:solidFill xmlns:a="http://schemas.openxmlformats.org/drawingml/2006/main">
            <a:srgbClr val="EEF5FF"/>
          </a:solidFill>
          <a:ln xmlns:a="http://schemas.openxmlformats.org/drawingml/2006/main" w="9525">
            <a:solidFill>
              <a:srgbClr val="D9E4F2"/>
            </a:solidFill>
            <a:prstDash val="solid"/>
          </a:ln>
        </p:spPr>
      </p:sp>
      <p:sp>
        <p:nvSpPr>
          <p:cNvPr id="11" name="">
            <a:extLst xmlns:a="http://schemas.openxmlformats.org/drawingml/2006/main">
              <a:ext uri="{FF2B5EF4-FFF2-40B4-BE49-F238E27FC236}">
                <a16:creationId xmlns:a16="http://schemas.microsoft.com/office/drawing/2014/main" id="{8A292417-32A3-4377-A245-12E72DA444AD}"/>
              </a:ext>
            </a:extLst>
          </p:cNvPr>
          <p:cNvSpPr>
            <a:spLocks xmlns:a="http://schemas.openxmlformats.org/drawingml/2006/main" noGrp="1"/>
          </p:cNvSpPr>
          <p:nvPr/>
        </p:nvSpPr>
        <p:spPr>
          <a:xfrm xmlns:a="http://schemas.openxmlformats.org/drawingml/2006/main">
            <a:off x="4686300" y="24955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41F39578-CC1F-4E22-92FB-681E919F633E}"/>
              </a:ext>
            </a:extLst>
          </p:cNvPr>
          <p:cNvSpPr>
            <a:spLocks xmlns:a="http://schemas.openxmlformats.org/drawingml/2006/main" noGrp="1"/>
          </p:cNvSpPr>
          <p:nvPr/>
        </p:nvSpPr>
        <p:spPr>
          <a:xfrm xmlns:a="http://schemas.openxmlformats.org/drawingml/2006/main">
            <a:off x="4686300" y="25622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D918664A-1A5C-4DD7-8EAA-E1C655C5A5AD}"/>
              </a:ext>
            </a:extLst>
          </p:cNvPr>
          <p:cNvSpPr>
            <a:spLocks xmlns:a="http://schemas.openxmlformats.org/drawingml/2006/main" noGrp="1"/>
          </p:cNvSpPr>
          <p:nvPr/>
        </p:nvSpPr>
        <p:spPr>
          <a:xfrm xmlns:a="http://schemas.openxmlformats.org/drawingml/2006/main">
            <a:off x="5219700" y="2495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Themen und Rueckblicke</a:t>
            </a:r>
          </a:p>
        </p:txBody>
      </p:sp>
      <p:sp>
        <p:nvSpPr>
          <p:cNvPr id="14" name="">
            <a:extLst xmlns:a="http://schemas.openxmlformats.org/drawingml/2006/main">
              <a:ext uri="{FF2B5EF4-FFF2-40B4-BE49-F238E27FC236}">
                <a16:creationId xmlns:a16="http://schemas.microsoft.com/office/drawing/2014/main" id="{5D025798-5EF1-47B2-84EA-D635ED6E5192}"/>
              </a:ext>
            </a:extLst>
          </p:cNvPr>
          <p:cNvSpPr>
            <a:spLocks xmlns:a="http://schemas.openxmlformats.org/drawingml/2006/main" noGrp="1"/>
          </p:cNvSpPr>
          <p:nvPr/>
        </p:nvSpPr>
        <p:spPr>
          <a:xfrm xmlns:a="http://schemas.openxmlformats.org/drawingml/2006/main">
            <a:off x="5219700" y="2914650"/>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Vortraege, Events und Galerien redaktionell nachbereiten.</a:t>
            </a:r>
          </a:p>
        </p:txBody>
      </p:sp>
      <p:sp>
        <p:nvSpPr>
          <p:cNvPr id="15" name="">
            <a:extLst xmlns:a="http://schemas.openxmlformats.org/drawingml/2006/main">
              <a:ext uri="{FF2B5EF4-FFF2-40B4-BE49-F238E27FC236}">
                <a16:creationId xmlns:a16="http://schemas.microsoft.com/office/drawing/2014/main" id="{A6922716-9E7D-4B3A-955D-8195DDF0EE93}"/>
              </a:ext>
            </a:extLst>
          </p:cNvPr>
          <p:cNvSpPr>
            <a:spLocks xmlns:a="http://schemas.openxmlformats.org/drawingml/2006/main" noGrp="1"/>
          </p:cNvSpPr>
          <p:nvPr/>
        </p:nvSpPr>
        <p:spPr>
          <a:xfrm xmlns:a="http://schemas.openxmlformats.org/drawingml/2006/main">
            <a:off x="8096250" y="2286000"/>
            <a:ext cx="32385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FE1BC928-038F-4443-BE6A-A99C73DF0FE2}"/>
              </a:ext>
            </a:extLst>
          </p:cNvPr>
          <p:cNvSpPr>
            <a:spLocks xmlns:a="http://schemas.openxmlformats.org/drawingml/2006/main" noGrp="1"/>
          </p:cNvSpPr>
          <p:nvPr/>
        </p:nvSpPr>
        <p:spPr>
          <a:xfrm xmlns:a="http://schemas.openxmlformats.org/drawingml/2006/main">
            <a:off x="8305800" y="2495550"/>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7" name="">
            <a:extLst xmlns:a="http://schemas.openxmlformats.org/drawingml/2006/main">
              <a:ext uri="{FF2B5EF4-FFF2-40B4-BE49-F238E27FC236}">
                <a16:creationId xmlns:a16="http://schemas.microsoft.com/office/drawing/2014/main" id="{C1166978-2E31-4F1F-98A1-6905DB9D2E87}"/>
              </a:ext>
            </a:extLst>
          </p:cNvPr>
          <p:cNvSpPr>
            <a:spLocks xmlns:a="http://schemas.openxmlformats.org/drawingml/2006/main" noGrp="1"/>
          </p:cNvSpPr>
          <p:nvPr/>
        </p:nvSpPr>
        <p:spPr>
          <a:xfrm xmlns:a="http://schemas.openxmlformats.org/drawingml/2006/main">
            <a:off x="8305800" y="25622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71D27006-E458-4F74-A588-96FE99269B5F}"/>
              </a:ext>
            </a:extLst>
          </p:cNvPr>
          <p:cNvSpPr>
            <a:spLocks xmlns:a="http://schemas.openxmlformats.org/drawingml/2006/main" noGrp="1"/>
          </p:cNvSpPr>
          <p:nvPr/>
        </p:nvSpPr>
        <p:spPr>
          <a:xfrm xmlns:a="http://schemas.openxmlformats.org/drawingml/2006/main">
            <a:off x="8839200" y="2495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Medienpakete</a:t>
            </a:r>
          </a:p>
        </p:txBody>
      </p:sp>
      <p:sp>
        <p:nvSpPr>
          <p:cNvPr id="19" name="">
            <a:extLst xmlns:a="http://schemas.openxmlformats.org/drawingml/2006/main">
              <a:ext uri="{FF2B5EF4-FFF2-40B4-BE49-F238E27FC236}">
                <a16:creationId xmlns:a16="http://schemas.microsoft.com/office/drawing/2014/main" id="{CE04A27D-4ACC-43E4-B9FF-29F19468B05C}"/>
              </a:ext>
            </a:extLst>
          </p:cNvPr>
          <p:cNvSpPr>
            <a:spLocks xmlns:a="http://schemas.openxmlformats.org/drawingml/2006/main" noGrp="1"/>
          </p:cNvSpPr>
          <p:nvPr/>
        </p:nvSpPr>
        <p:spPr>
          <a:xfrm xmlns:a="http://schemas.openxmlformats.org/drawingml/2006/main">
            <a:off x="8839200" y="2914650"/>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Bild, Thumb, Audio, PDF, Video und Galerie zusammenfuehren.</a:t>
            </a:r>
          </a:p>
        </p:txBody>
      </p:sp>
    </p:spTree>
    <p:extLst>
      <p:ext uri="{BB962C8B-B14F-4D97-AF65-F5344CB8AC3E}">
        <p14:creationId xmlns:p14="http://schemas.microsoft.com/office/powerpoint/2010/main" val="839659245"/>
      </p:ext>
    </p:extLst>
  </p:cSld>
</p:sld>
</file>

<file path=ppt/slides/slide16.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F2C1E0-8B6B-4321-9AC1-7232D8BB3F8B}"/>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MEDIENWERKZEUGE</a:t>
            </a:r>
          </a:p>
        </p:txBody>
      </p:sp>
      <p:sp>
        <p:nvSpPr>
          <p:cNvPr id="2" name="">
            <a:extLst xmlns:a="http://schemas.openxmlformats.org/drawingml/2006/main">
              <a:ext uri="{FF2B5EF4-FFF2-40B4-BE49-F238E27FC236}">
                <a16:creationId xmlns:a16="http://schemas.microsoft.com/office/drawing/2014/main" id="{50C0AA79-41A3-4AF2-AA16-E7713E6E2906}"/>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Galerie, PDF, Video und Thumbnails gehoeren zur Redaktion</a:t>
            </a:r>
          </a:p>
        </p:txBody>
      </p:sp>
      <p:sp>
        <p:nvSpPr>
          <p:cNvPr id="3" name="">
            <a:extLst xmlns:a="http://schemas.openxmlformats.org/drawingml/2006/main">
              <a:ext uri="{FF2B5EF4-FFF2-40B4-BE49-F238E27FC236}">
                <a16:creationId xmlns:a16="http://schemas.microsoft.com/office/drawing/2014/main" id="{E013DD12-ADF2-453F-86BA-5E9E2F89CF8A}"/>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D191F7B9-8608-4063-8462-27612B385EF0}"/>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16</a:t>
            </a:r>
          </a:p>
        </p:txBody>
      </p:sp>
      <p:sp>
        <p:nvSpPr>
          <p:cNvPr id="5" name="">
            <a:extLst xmlns:a="http://schemas.openxmlformats.org/drawingml/2006/main">
              <a:ext uri="{FF2B5EF4-FFF2-40B4-BE49-F238E27FC236}">
                <a16:creationId xmlns:a16="http://schemas.microsoft.com/office/drawing/2014/main" id="{D816F72C-DCAF-4FE3-9327-402255F79474}"/>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826177D7-9E98-42CF-94F9-F869683CDBF2}"/>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Galerien fuer Rueckblicke und Eventdokumentation</a:t>
            </a:r>
          </a:p>
        </p:txBody>
      </p:sp>
      <p:sp>
        <p:nvSpPr>
          <p:cNvPr id="7" name="">
            <a:extLst xmlns:a="http://schemas.openxmlformats.org/drawingml/2006/main">
              <a:ext uri="{FF2B5EF4-FFF2-40B4-BE49-F238E27FC236}">
                <a16:creationId xmlns:a16="http://schemas.microsoft.com/office/drawing/2014/main" id="{166E9ACA-2399-44E4-A430-056C8FBA0A6B}"/>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4284A474-F7F0-43B0-9720-2654BE7FD022}"/>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PDFs fuer Programme, Presseunterlagen und Mitgliederinformationen</a:t>
            </a:r>
          </a:p>
        </p:txBody>
      </p:sp>
      <p:sp>
        <p:nvSpPr>
          <p:cNvPr id="9" name="">
            <a:extLst xmlns:a="http://schemas.openxmlformats.org/drawingml/2006/main">
              <a:ext uri="{FF2B5EF4-FFF2-40B4-BE49-F238E27FC236}">
                <a16:creationId xmlns:a16="http://schemas.microsoft.com/office/drawing/2014/main" id="{7F8D37FD-47B2-4250-9059-EE5BBD5C6B31}"/>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D0BA8CB6-47DE-4049-8D70-2EDCDE73997E}"/>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Videos fuer Mitschnitte, Interviews oder externe Inhalte</a:t>
            </a:r>
          </a:p>
        </p:txBody>
      </p:sp>
      <p:sp>
        <p:nvSpPr>
          <p:cNvPr id="11" name="">
            <a:extLst xmlns:a="http://schemas.openxmlformats.org/drawingml/2006/main">
              <a:ext uri="{FF2B5EF4-FFF2-40B4-BE49-F238E27FC236}">
                <a16:creationId xmlns:a16="http://schemas.microsoft.com/office/drawing/2014/main" id="{AE1113F1-D66D-48B2-B086-78056F8BE773}"/>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39CE01A6-7F3E-40A5-92C4-D7692E277254}"/>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Thumbnails fuer professionelle Listen- und Mobile-Ansichten</a:t>
            </a:r>
          </a:p>
        </p:txBody>
      </p:sp>
    </p:spTree>
    <p:extLst>
      <p:ext uri="{BB962C8B-B14F-4D97-AF65-F5344CB8AC3E}">
        <p14:creationId xmlns:p14="http://schemas.microsoft.com/office/powerpoint/2010/main" val="407935832"/>
      </p:ext>
    </p:extLst>
  </p:cSld>
</p:sld>
</file>

<file path=ppt/slides/slide17.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0DC075-5E1D-4C3D-B18B-7367A868123E}"/>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BILDWORKFLOW</a:t>
            </a:r>
          </a:p>
        </p:txBody>
      </p:sp>
      <p:sp>
        <p:nvSpPr>
          <p:cNvPr id="2" name="">
            <a:extLst xmlns:a="http://schemas.openxmlformats.org/drawingml/2006/main">
              <a:ext uri="{FF2B5EF4-FFF2-40B4-BE49-F238E27FC236}">
                <a16:creationId xmlns:a16="http://schemas.microsoft.com/office/drawing/2014/main" id="{9A162CB1-FD7D-4967-A8A6-6FDCCED31E12}"/>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Upload, Crop und WebP-Varianten laufen zusammen</a:t>
            </a:r>
          </a:p>
        </p:txBody>
      </p:sp>
      <p:sp>
        <p:nvSpPr>
          <p:cNvPr id="3" name="">
            <a:extLst xmlns:a="http://schemas.openxmlformats.org/drawingml/2006/main">
              <a:ext uri="{FF2B5EF4-FFF2-40B4-BE49-F238E27FC236}">
                <a16:creationId xmlns:a16="http://schemas.microsoft.com/office/drawing/2014/main" id="{89EF3AF1-29A8-4574-B4AF-CA4E896D4D59}"/>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72F3E633-989D-4A32-94E1-229069FF3108}"/>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17</a:t>
            </a:r>
          </a:p>
        </p:txBody>
      </p:sp>
      <p:sp>
        <p:nvSpPr>
          <p:cNvPr id="5" name="">
            <a:extLst xmlns:a="http://schemas.openxmlformats.org/drawingml/2006/main">
              <a:ext uri="{FF2B5EF4-FFF2-40B4-BE49-F238E27FC236}">
                <a16:creationId xmlns:a16="http://schemas.microsoft.com/office/drawing/2014/main" id="{39FF9A29-AF76-4B29-89F4-5F2F3580F165}"/>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F25CCBAB-245E-461F-8543-1EA66020A1EE}"/>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Upload direkt im Formular oder aus der Mediathek</a:t>
            </a:r>
          </a:p>
        </p:txBody>
      </p:sp>
      <p:sp>
        <p:nvSpPr>
          <p:cNvPr id="7" name="">
            <a:extLst xmlns:a="http://schemas.openxmlformats.org/drawingml/2006/main">
              <a:ext uri="{FF2B5EF4-FFF2-40B4-BE49-F238E27FC236}">
                <a16:creationId xmlns:a16="http://schemas.microsoft.com/office/drawing/2014/main" id="{08EE15F8-B4A5-4658-8BB9-5B1D29064D85}"/>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ABE1E554-8762-4D20-91DC-6912148C2798}"/>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Cropfenster fuer Vortrag, Thema, Referent oder Logo</a:t>
            </a:r>
          </a:p>
        </p:txBody>
      </p:sp>
      <p:sp>
        <p:nvSpPr>
          <p:cNvPr id="9" name="">
            <a:extLst xmlns:a="http://schemas.openxmlformats.org/drawingml/2006/main">
              <a:ext uri="{FF2B5EF4-FFF2-40B4-BE49-F238E27FC236}">
                <a16:creationId xmlns:a16="http://schemas.microsoft.com/office/drawing/2014/main" id="{36841EDB-FB06-43C6-91FE-72A796F45458}"/>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1270757B-0C3B-494C-B182-C10EAD060B83}"/>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Warnung bei zu kleiner Aufloesung</a:t>
            </a:r>
          </a:p>
        </p:txBody>
      </p:sp>
      <p:sp>
        <p:nvSpPr>
          <p:cNvPr id="11" name="">
            <a:extLst xmlns:a="http://schemas.openxmlformats.org/drawingml/2006/main">
              <a:ext uri="{FF2B5EF4-FFF2-40B4-BE49-F238E27FC236}">
                <a16:creationId xmlns:a16="http://schemas.microsoft.com/office/drawing/2014/main" id="{16A16A72-F2EC-4E5C-BEDF-8A289D5906DA}"/>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8999F6C2-761A-4136-B9D5-2D0903006A29}"/>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Automatische WebP-Varianten fuer schnelle Ladezeiten</a:t>
            </a:r>
          </a:p>
        </p:txBody>
      </p:sp>
    </p:spTree>
    <p:extLst>
      <p:ext uri="{BB962C8B-B14F-4D97-AF65-F5344CB8AC3E}">
        <p14:creationId xmlns:p14="http://schemas.microsoft.com/office/powerpoint/2010/main" val="1112346411"/>
      </p:ext>
    </p:extLst>
  </p:cSld>
</p:sld>
</file>

<file path=ppt/slides/slide18.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F85F3D-949D-4F01-864D-7589451FA80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VORLESER-FUNKTION</a:t>
            </a:r>
          </a:p>
        </p:txBody>
      </p:sp>
      <p:sp>
        <p:nvSpPr>
          <p:cNvPr id="2" name="">
            <a:extLst xmlns:a="http://schemas.openxmlformats.org/drawingml/2006/main">
              <a:ext uri="{FF2B5EF4-FFF2-40B4-BE49-F238E27FC236}">
                <a16:creationId xmlns:a16="http://schemas.microsoft.com/office/drawing/2014/main" id="{BD9128FA-F65D-42EF-851F-944AA0CA5A44}"/>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Natuerliche Stimmen machen Inhalte barriereaermer</a:t>
            </a:r>
          </a:p>
        </p:txBody>
      </p:sp>
      <p:sp>
        <p:nvSpPr>
          <p:cNvPr id="3" name="">
            <a:extLst xmlns:a="http://schemas.openxmlformats.org/drawingml/2006/main">
              <a:ext uri="{FF2B5EF4-FFF2-40B4-BE49-F238E27FC236}">
                <a16:creationId xmlns:a16="http://schemas.microsoft.com/office/drawing/2014/main" id="{7AAE93E4-774A-49CA-A1A2-A03101704795}"/>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32E5EFB7-C197-4AAD-8AB6-6EBE6C43E2FD}"/>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18</a:t>
            </a:r>
          </a:p>
        </p:txBody>
      </p:sp>
      <p:sp>
        <p:nvSpPr>
          <p:cNvPr id="5" name="">
            <a:extLst xmlns:a="http://schemas.openxmlformats.org/drawingml/2006/main">
              <a:ext uri="{FF2B5EF4-FFF2-40B4-BE49-F238E27FC236}">
                <a16:creationId xmlns:a16="http://schemas.microsoft.com/office/drawing/2014/main" id="{F57FCE09-ED4D-4E48-A9EB-BA1C54FB0C1A}"/>
              </a:ext>
            </a:extLst>
          </p:cNvPr>
          <p:cNvSpPr>
            <a:spLocks xmlns:a="http://schemas.openxmlformats.org/drawingml/2006/main" noGrp="1"/>
          </p:cNvSpPr>
          <p:nvPr/>
        </p:nvSpPr>
        <p:spPr>
          <a:xfrm xmlns:a="http://schemas.openxmlformats.org/drawingml/2006/main">
            <a:off x="1047750" y="23812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Sehr natuerliche Sprachstimmen</a:t>
            </a:r>
          </a:p>
        </p:txBody>
      </p:sp>
      <p:sp>
        <p:nvSpPr>
          <p:cNvPr id="6" name="">
            <a:extLst xmlns:a="http://schemas.openxmlformats.org/drawingml/2006/main">
              <a:ext uri="{FF2B5EF4-FFF2-40B4-BE49-F238E27FC236}">
                <a16:creationId xmlns:a16="http://schemas.microsoft.com/office/drawing/2014/main" id="{28CF731C-0836-4292-B336-E57B921A5CDF}"/>
              </a:ext>
            </a:extLst>
          </p:cNvPr>
          <p:cNvSpPr>
            <a:spLocks xmlns:a="http://schemas.openxmlformats.org/drawingml/2006/main" noGrp="1"/>
          </p:cNvSpPr>
          <p:nvPr/>
        </p:nvSpPr>
        <p:spPr>
          <a:xfrm xmlns:a="http://schemas.openxmlformats.org/drawingml/2006/main">
            <a:off x="1047750" y="295275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E6B7F"/>
                </a:solidFill>
              </a:defRPr>
            </a:pPr>
            <a:r>
              <a:rPr sz="1725" b="0">
                <a:solidFill>
                  <a:srgbClr val="5E6B7F"/>
                </a:solidFill>
              </a:rPr>
              <a:t>Audiofassungen entstehen mit moderner Sprachtechnologie und machen Beitraege auch hoerbar.</a:t>
            </a:r>
          </a:p>
        </p:txBody>
      </p:sp>
      <p:sp>
        <p:nvSpPr>
          <p:cNvPr id="7" name="">
            <a:extLst xmlns:a="http://schemas.openxmlformats.org/drawingml/2006/main">
              <a:ext uri="{FF2B5EF4-FFF2-40B4-BE49-F238E27FC236}">
                <a16:creationId xmlns:a16="http://schemas.microsoft.com/office/drawing/2014/main" id="{82FD62AE-6F2A-476C-95B8-2924FB1DE0A8}"/>
              </a:ext>
            </a:extLst>
          </p:cNvPr>
          <p:cNvSpPr>
            <a:spLocks xmlns:a="http://schemas.openxmlformats.org/drawingml/2006/main" noGrp="1"/>
          </p:cNvSpPr>
          <p:nvPr/>
        </p:nvSpPr>
        <p:spPr>
          <a:xfrm xmlns:a="http://schemas.openxmlformats.org/drawingml/2006/main">
            <a:off x="6667500" y="23812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Karaoke-/Mitlesefunktion</a:t>
            </a:r>
          </a:p>
        </p:txBody>
      </p:sp>
      <p:sp>
        <p:nvSpPr>
          <p:cNvPr id="8" name="">
            <a:extLst xmlns:a="http://schemas.openxmlformats.org/drawingml/2006/main">
              <a:ext uri="{FF2B5EF4-FFF2-40B4-BE49-F238E27FC236}">
                <a16:creationId xmlns:a16="http://schemas.microsoft.com/office/drawing/2014/main" id="{2E2CDE44-5395-4D1A-AD1A-23038FC5B1EE}"/>
              </a:ext>
            </a:extLst>
          </p:cNvPr>
          <p:cNvSpPr>
            <a:spLocks xmlns:a="http://schemas.openxmlformats.org/drawingml/2006/main" noGrp="1"/>
          </p:cNvSpPr>
          <p:nvPr/>
        </p:nvSpPr>
        <p:spPr>
          <a:xfrm xmlns:a="http://schemas.openxmlformats.org/drawingml/2006/main">
            <a:off x="6667500" y="295275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E6B7F"/>
                </a:solidFill>
              </a:defRPr>
            </a:pPr>
            <a:r>
              <a:rPr sz="1725" b="0">
                <a:solidFill>
                  <a:srgbClr val="5E6B7F"/>
                </a:solidFill>
              </a:rPr>
              <a:t>Gesprochene Textabschnitte werden hervorgehoben und verbessern Orientierung und Verstaendlichkeit.</a:t>
            </a:r>
          </a:p>
        </p:txBody>
      </p:sp>
      <p:sp>
        <p:nvSpPr>
          <p:cNvPr id="9" name="">
            <a:extLst xmlns:a="http://schemas.openxmlformats.org/drawingml/2006/main">
              <a:ext uri="{FF2B5EF4-FFF2-40B4-BE49-F238E27FC236}">
                <a16:creationId xmlns:a16="http://schemas.microsoft.com/office/drawing/2014/main" id="{4D8D1808-7EEE-4BEF-9FA8-77ECA2738799}"/>
              </a:ext>
            </a:extLst>
          </p:cNvPr>
          <p:cNvSpPr>
            <a:spLocks xmlns:a="http://schemas.openxmlformats.org/drawingml/2006/main" noGrp="1"/>
          </p:cNvSpPr>
          <p:nvPr/>
        </p:nvSpPr>
        <p:spPr>
          <a:xfrm xmlns:a="http://schemas.openxmlformats.org/drawingml/2006/main">
            <a:off x="1047750" y="4333875"/>
            <a:ext cx="1143000" cy="57150"/>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E04E7696-832F-4B6D-A95A-E5DAD248D530}"/>
              </a:ext>
            </a:extLst>
          </p:cNvPr>
          <p:cNvSpPr>
            <a:spLocks xmlns:a="http://schemas.openxmlformats.org/drawingml/2006/main" noGrp="1"/>
          </p:cNvSpPr>
          <p:nvPr/>
        </p:nvSpPr>
        <p:spPr>
          <a:xfrm xmlns:a="http://schemas.openxmlformats.org/drawingml/2006/main">
            <a:off x="1047750" y="46672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71A33"/>
                </a:solidFill>
              </a:defRPr>
            </a:pPr>
            <a:r>
              <a:rPr sz="1950" b="1">
                <a:solidFill>
                  <a:srgbClr val="071A33"/>
                </a:solidFill>
              </a:rPr>
              <a:t>Ein redaktioneller Beitrag kann gelesen, gehoert und mitverfolgt werden.</a:t>
            </a:r>
          </a:p>
        </p:txBody>
      </p:sp>
    </p:spTree>
    <p:extLst>
      <p:ext uri="{BB962C8B-B14F-4D97-AF65-F5344CB8AC3E}">
        <p14:creationId xmlns:p14="http://schemas.microsoft.com/office/powerpoint/2010/main" val="252837033"/>
      </p:ext>
    </p:extLst>
  </p:cSld>
</p:sld>
</file>

<file path=ppt/slides/slide19.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C712860-570F-439D-B770-6313CAB58F2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KI-UNTERSTUETZUNG</a:t>
            </a:r>
          </a:p>
        </p:txBody>
      </p:sp>
      <p:sp>
        <p:nvSpPr>
          <p:cNvPr id="2" name="">
            <a:extLst xmlns:a="http://schemas.openxmlformats.org/drawingml/2006/main">
              <a:ext uri="{FF2B5EF4-FFF2-40B4-BE49-F238E27FC236}">
                <a16:creationId xmlns:a16="http://schemas.microsoft.com/office/drawing/2014/main" id="{A60C024C-AFE5-4461-8657-00EB16454276}"/>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KI ergaenzt die Redaktion, ersetzt sie aber nicht</a:t>
            </a:r>
          </a:p>
        </p:txBody>
      </p:sp>
      <p:sp>
        <p:nvSpPr>
          <p:cNvPr id="3" name="">
            <a:extLst xmlns:a="http://schemas.openxmlformats.org/drawingml/2006/main">
              <a:ext uri="{FF2B5EF4-FFF2-40B4-BE49-F238E27FC236}">
                <a16:creationId xmlns:a16="http://schemas.microsoft.com/office/drawing/2014/main" id="{736C73A1-34BB-47A8-BAA9-E5D8F6B77408}"/>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3CAD611F-7AEB-46B1-B790-46E8C7A6F2A6}"/>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19</a:t>
            </a:r>
          </a:p>
        </p:txBody>
      </p:sp>
      <p:sp>
        <p:nvSpPr>
          <p:cNvPr id="5" name="">
            <a:extLst xmlns:a="http://schemas.openxmlformats.org/drawingml/2006/main">
              <a:ext uri="{FF2B5EF4-FFF2-40B4-BE49-F238E27FC236}">
                <a16:creationId xmlns:a16="http://schemas.microsoft.com/office/drawing/2014/main" id="{4BDB75F2-E453-4448-ABF0-543D23D28778}"/>
              </a:ext>
            </a:extLst>
          </p:cNvPr>
          <p:cNvSpPr>
            <a:spLocks xmlns:a="http://schemas.openxmlformats.org/drawingml/2006/main" noGrp="1"/>
          </p:cNvSpPr>
          <p:nvPr/>
        </p:nvSpPr>
        <p:spPr>
          <a:xfrm xmlns:a="http://schemas.openxmlformats.org/drawingml/2006/main">
            <a:off x="876300" y="2238375"/>
            <a:ext cx="4762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E22E4EF3-6CE4-45F1-A4FB-0F4FC4FE0A62}"/>
              </a:ext>
            </a:extLst>
          </p:cNvPr>
          <p:cNvSpPr>
            <a:spLocks xmlns:a="http://schemas.openxmlformats.org/drawingml/2006/main" noGrp="1"/>
          </p:cNvSpPr>
          <p:nvPr/>
        </p:nvSpPr>
        <p:spPr>
          <a:xfrm xmlns:a="http://schemas.openxmlformats.org/drawingml/2006/main">
            <a:off x="1238250" y="2571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KI hilft bei</a:t>
            </a:r>
          </a:p>
        </p:txBody>
      </p:sp>
      <p:sp>
        <p:nvSpPr>
          <p:cNvPr id="7" name="">
            <a:extLst xmlns:a="http://schemas.openxmlformats.org/drawingml/2006/main">
              <a:ext uri="{FF2B5EF4-FFF2-40B4-BE49-F238E27FC236}">
                <a16:creationId xmlns:a16="http://schemas.microsoft.com/office/drawing/2014/main" id="{63556A42-D20C-4AD3-985C-821FA746EC30}"/>
              </a:ext>
            </a:extLst>
          </p:cNvPr>
          <p:cNvSpPr>
            <a:spLocks xmlns:a="http://schemas.openxmlformats.org/drawingml/2006/main" noGrp="1"/>
          </p:cNvSpPr>
          <p:nvPr/>
        </p:nvSpPr>
        <p:spPr>
          <a:xfrm xmlns:a="http://schemas.openxmlformats.org/drawingml/2006/main">
            <a:off x="1238250" y="32289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566DE17F-4FEA-49EB-A02D-AD190130AD91}"/>
              </a:ext>
            </a:extLst>
          </p:cNvPr>
          <p:cNvSpPr>
            <a:spLocks xmlns:a="http://schemas.openxmlformats.org/drawingml/2006/main" noGrp="1"/>
          </p:cNvSpPr>
          <p:nvPr/>
        </p:nvSpPr>
        <p:spPr>
          <a:xfrm xmlns:a="http://schemas.openxmlformats.org/drawingml/2006/main">
            <a:off x="1485900" y="314325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Formulierungen</a:t>
            </a:r>
          </a:p>
        </p:txBody>
      </p:sp>
      <p:sp>
        <p:nvSpPr>
          <p:cNvPr id="9" name="">
            <a:extLst xmlns:a="http://schemas.openxmlformats.org/drawingml/2006/main">
              <a:ext uri="{FF2B5EF4-FFF2-40B4-BE49-F238E27FC236}">
                <a16:creationId xmlns:a16="http://schemas.microsoft.com/office/drawing/2014/main" id="{37A2B83F-34E7-49FA-9810-CC577A2F0FB2}"/>
              </a:ext>
            </a:extLst>
          </p:cNvPr>
          <p:cNvSpPr>
            <a:spLocks xmlns:a="http://schemas.openxmlformats.org/drawingml/2006/main" noGrp="1"/>
          </p:cNvSpPr>
          <p:nvPr/>
        </p:nvSpPr>
        <p:spPr>
          <a:xfrm xmlns:a="http://schemas.openxmlformats.org/drawingml/2006/main">
            <a:off x="1238250" y="35528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1B5D4DBD-36A3-4A39-A2D6-C8FF1D2E05E0}"/>
              </a:ext>
            </a:extLst>
          </p:cNvPr>
          <p:cNvSpPr>
            <a:spLocks xmlns:a="http://schemas.openxmlformats.org/drawingml/2006/main" noGrp="1"/>
          </p:cNvSpPr>
          <p:nvPr/>
        </p:nvSpPr>
        <p:spPr>
          <a:xfrm xmlns:a="http://schemas.openxmlformats.org/drawingml/2006/main">
            <a:off x="1485900" y="346710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Rechtschreibung</a:t>
            </a:r>
          </a:p>
        </p:txBody>
      </p:sp>
      <p:sp>
        <p:nvSpPr>
          <p:cNvPr id="11" name="">
            <a:extLst xmlns:a="http://schemas.openxmlformats.org/drawingml/2006/main">
              <a:ext uri="{FF2B5EF4-FFF2-40B4-BE49-F238E27FC236}">
                <a16:creationId xmlns:a16="http://schemas.microsoft.com/office/drawing/2014/main" id="{A2532E16-4B1C-46D3-B1F2-C1B63A4FE26D}"/>
              </a:ext>
            </a:extLst>
          </p:cNvPr>
          <p:cNvSpPr>
            <a:spLocks xmlns:a="http://schemas.openxmlformats.org/drawingml/2006/main" noGrp="1"/>
          </p:cNvSpPr>
          <p:nvPr/>
        </p:nvSpPr>
        <p:spPr>
          <a:xfrm xmlns:a="http://schemas.openxmlformats.org/drawingml/2006/main">
            <a:off x="1238250" y="3876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6A6FBC79-621B-4F33-9C0C-B3A4B82B27EF}"/>
              </a:ext>
            </a:extLst>
          </p:cNvPr>
          <p:cNvSpPr>
            <a:spLocks xmlns:a="http://schemas.openxmlformats.org/drawingml/2006/main" noGrp="1"/>
          </p:cNvSpPr>
          <p:nvPr/>
        </p:nvSpPr>
        <p:spPr>
          <a:xfrm xmlns:a="http://schemas.openxmlformats.org/drawingml/2006/main">
            <a:off x="1485900" y="379095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Strukturierung</a:t>
            </a:r>
          </a:p>
        </p:txBody>
      </p:sp>
      <p:sp>
        <p:nvSpPr>
          <p:cNvPr id="13" name="">
            <a:extLst xmlns:a="http://schemas.openxmlformats.org/drawingml/2006/main">
              <a:ext uri="{FF2B5EF4-FFF2-40B4-BE49-F238E27FC236}">
                <a16:creationId xmlns:a16="http://schemas.microsoft.com/office/drawing/2014/main" id="{A6E534F8-F2EF-4E3B-AE76-C14AC45B8622}"/>
              </a:ext>
            </a:extLst>
          </p:cNvPr>
          <p:cNvSpPr>
            <a:spLocks xmlns:a="http://schemas.openxmlformats.org/drawingml/2006/main" noGrp="1"/>
          </p:cNvSpPr>
          <p:nvPr/>
        </p:nvSpPr>
        <p:spPr>
          <a:xfrm xmlns:a="http://schemas.openxmlformats.org/drawingml/2006/main">
            <a:off x="1238250" y="42005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4" name="">
            <a:extLst xmlns:a="http://schemas.openxmlformats.org/drawingml/2006/main">
              <a:ext uri="{FF2B5EF4-FFF2-40B4-BE49-F238E27FC236}">
                <a16:creationId xmlns:a16="http://schemas.microsoft.com/office/drawing/2014/main" id="{1ACEDCC3-8102-4DA9-BFE4-C518DA6FB283}"/>
              </a:ext>
            </a:extLst>
          </p:cNvPr>
          <p:cNvSpPr>
            <a:spLocks xmlns:a="http://schemas.openxmlformats.org/drawingml/2006/main" noGrp="1"/>
          </p:cNvSpPr>
          <p:nvPr/>
        </p:nvSpPr>
        <p:spPr>
          <a:xfrm xmlns:a="http://schemas.openxmlformats.org/drawingml/2006/main">
            <a:off x="1485900" y="411480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Artikelbildern</a:t>
            </a:r>
          </a:p>
        </p:txBody>
      </p:sp>
      <p:sp>
        <p:nvSpPr>
          <p:cNvPr id="15" name="">
            <a:extLst xmlns:a="http://schemas.openxmlformats.org/drawingml/2006/main">
              <a:ext uri="{FF2B5EF4-FFF2-40B4-BE49-F238E27FC236}">
                <a16:creationId xmlns:a16="http://schemas.microsoft.com/office/drawing/2014/main" id="{B68A7C0B-4D9F-478D-BE1D-82F90DC95C7B}"/>
              </a:ext>
            </a:extLst>
          </p:cNvPr>
          <p:cNvSpPr>
            <a:spLocks xmlns:a="http://schemas.openxmlformats.org/drawingml/2006/main" noGrp="1"/>
          </p:cNvSpPr>
          <p:nvPr/>
        </p:nvSpPr>
        <p:spPr>
          <a:xfrm xmlns:a="http://schemas.openxmlformats.org/drawingml/2006/main">
            <a:off x="6553200" y="2238375"/>
            <a:ext cx="4762500" cy="2381250"/>
          </a:xfrm>
          <a:prstGeom xmlns:a="http://schemas.openxmlformats.org/drawingml/2006/main" prst="roundRect">
            <a:avLst>
              <a:gd name="adj" fmla="val 4800"/>
            </a:avLst>
          </a:prstGeom>
          <a:solidFill xmlns:a="http://schemas.openxmlformats.org/drawingml/2006/main">
            <a:srgbClr val="FFF6F7"/>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585F226C-E4B8-4C55-A65F-0C0383764174}"/>
              </a:ext>
            </a:extLst>
          </p:cNvPr>
          <p:cNvSpPr>
            <a:spLocks xmlns:a="http://schemas.openxmlformats.org/drawingml/2006/main" noGrp="1"/>
          </p:cNvSpPr>
          <p:nvPr/>
        </p:nvSpPr>
        <p:spPr>
          <a:xfrm xmlns:a="http://schemas.openxmlformats.org/drawingml/2006/main">
            <a:off x="6915150" y="2571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71A33"/>
                </a:solidFill>
              </a:defRPr>
            </a:pPr>
            <a:r>
              <a:rPr sz="2250" b="1">
                <a:solidFill>
                  <a:srgbClr val="071A33"/>
                </a:solidFill>
              </a:rPr>
              <a:t>Redaktion entscheidet</a:t>
            </a:r>
          </a:p>
        </p:txBody>
      </p:sp>
      <p:sp>
        <p:nvSpPr>
          <p:cNvPr id="17" name="">
            <a:extLst xmlns:a="http://schemas.openxmlformats.org/drawingml/2006/main">
              <a:ext uri="{FF2B5EF4-FFF2-40B4-BE49-F238E27FC236}">
                <a16:creationId xmlns:a16="http://schemas.microsoft.com/office/drawing/2014/main" id="{0D6805EA-3543-4429-8927-E2D1703E73BB}"/>
              </a:ext>
            </a:extLst>
          </p:cNvPr>
          <p:cNvSpPr>
            <a:spLocks xmlns:a="http://schemas.openxmlformats.org/drawingml/2006/main" noGrp="1"/>
          </p:cNvSpPr>
          <p:nvPr/>
        </p:nvSpPr>
        <p:spPr>
          <a:xfrm xmlns:a="http://schemas.openxmlformats.org/drawingml/2006/main">
            <a:off x="6915150" y="32289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8" name="">
            <a:extLst xmlns:a="http://schemas.openxmlformats.org/drawingml/2006/main">
              <a:ext uri="{FF2B5EF4-FFF2-40B4-BE49-F238E27FC236}">
                <a16:creationId xmlns:a16="http://schemas.microsoft.com/office/drawing/2014/main" id="{28CFBA41-15FD-45BF-AD4F-6EBD6555BD8E}"/>
              </a:ext>
            </a:extLst>
          </p:cNvPr>
          <p:cNvSpPr>
            <a:spLocks xmlns:a="http://schemas.openxmlformats.org/drawingml/2006/main" noGrp="1"/>
          </p:cNvSpPr>
          <p:nvPr/>
        </p:nvSpPr>
        <p:spPr>
          <a:xfrm xmlns:a="http://schemas.openxmlformats.org/drawingml/2006/main">
            <a:off x="7162800" y="314325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Auswahl</a:t>
            </a:r>
          </a:p>
        </p:txBody>
      </p:sp>
      <p:sp>
        <p:nvSpPr>
          <p:cNvPr id="19" name="">
            <a:extLst xmlns:a="http://schemas.openxmlformats.org/drawingml/2006/main">
              <a:ext uri="{FF2B5EF4-FFF2-40B4-BE49-F238E27FC236}">
                <a16:creationId xmlns:a16="http://schemas.microsoft.com/office/drawing/2014/main" id="{6658010B-FE76-48A0-9988-C6706E82399C}"/>
              </a:ext>
            </a:extLst>
          </p:cNvPr>
          <p:cNvSpPr>
            <a:spLocks xmlns:a="http://schemas.openxmlformats.org/drawingml/2006/main" noGrp="1"/>
          </p:cNvSpPr>
          <p:nvPr/>
        </p:nvSpPr>
        <p:spPr>
          <a:xfrm xmlns:a="http://schemas.openxmlformats.org/drawingml/2006/main">
            <a:off x="6915150" y="35528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0" name="">
            <a:extLst xmlns:a="http://schemas.openxmlformats.org/drawingml/2006/main">
              <a:ext uri="{FF2B5EF4-FFF2-40B4-BE49-F238E27FC236}">
                <a16:creationId xmlns:a16="http://schemas.microsoft.com/office/drawing/2014/main" id="{F8B95576-DE1F-4CFB-A739-7636B43D2436}"/>
              </a:ext>
            </a:extLst>
          </p:cNvPr>
          <p:cNvSpPr>
            <a:spLocks xmlns:a="http://schemas.openxmlformats.org/drawingml/2006/main" noGrp="1"/>
          </p:cNvSpPr>
          <p:nvPr/>
        </p:nvSpPr>
        <p:spPr>
          <a:xfrm xmlns:a="http://schemas.openxmlformats.org/drawingml/2006/main">
            <a:off x="7162800" y="346710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Bewertung</a:t>
            </a:r>
          </a:p>
        </p:txBody>
      </p:sp>
      <p:sp>
        <p:nvSpPr>
          <p:cNvPr id="21" name="">
            <a:extLst xmlns:a="http://schemas.openxmlformats.org/drawingml/2006/main">
              <a:ext uri="{FF2B5EF4-FFF2-40B4-BE49-F238E27FC236}">
                <a16:creationId xmlns:a16="http://schemas.microsoft.com/office/drawing/2014/main" id="{D79F8EC7-CB44-47DE-84A7-F035B50E4065}"/>
              </a:ext>
            </a:extLst>
          </p:cNvPr>
          <p:cNvSpPr>
            <a:spLocks xmlns:a="http://schemas.openxmlformats.org/drawingml/2006/main" noGrp="1"/>
          </p:cNvSpPr>
          <p:nvPr/>
        </p:nvSpPr>
        <p:spPr>
          <a:xfrm xmlns:a="http://schemas.openxmlformats.org/drawingml/2006/main">
            <a:off x="6915150" y="3876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2" name="">
            <a:extLst xmlns:a="http://schemas.openxmlformats.org/drawingml/2006/main">
              <a:ext uri="{FF2B5EF4-FFF2-40B4-BE49-F238E27FC236}">
                <a16:creationId xmlns:a16="http://schemas.microsoft.com/office/drawing/2014/main" id="{EB17CA32-9CFD-4025-9E75-C610C134EB29}"/>
              </a:ext>
            </a:extLst>
          </p:cNvPr>
          <p:cNvSpPr>
            <a:spLocks xmlns:a="http://schemas.openxmlformats.org/drawingml/2006/main" noGrp="1"/>
          </p:cNvSpPr>
          <p:nvPr/>
        </p:nvSpPr>
        <p:spPr>
          <a:xfrm xmlns:a="http://schemas.openxmlformats.org/drawingml/2006/main">
            <a:off x="7162800" y="379095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Quellenpruefung</a:t>
            </a:r>
          </a:p>
        </p:txBody>
      </p:sp>
      <p:sp>
        <p:nvSpPr>
          <p:cNvPr id="23" name="">
            <a:extLst xmlns:a="http://schemas.openxmlformats.org/drawingml/2006/main">
              <a:ext uri="{FF2B5EF4-FFF2-40B4-BE49-F238E27FC236}">
                <a16:creationId xmlns:a16="http://schemas.microsoft.com/office/drawing/2014/main" id="{C7CE47FD-6F13-4A41-9775-ED4629249E9A}"/>
              </a:ext>
            </a:extLst>
          </p:cNvPr>
          <p:cNvSpPr>
            <a:spLocks xmlns:a="http://schemas.openxmlformats.org/drawingml/2006/main" noGrp="1"/>
          </p:cNvSpPr>
          <p:nvPr/>
        </p:nvSpPr>
        <p:spPr>
          <a:xfrm xmlns:a="http://schemas.openxmlformats.org/drawingml/2006/main">
            <a:off x="6915150" y="42005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4" name="">
            <a:extLst xmlns:a="http://schemas.openxmlformats.org/drawingml/2006/main">
              <a:ext uri="{FF2B5EF4-FFF2-40B4-BE49-F238E27FC236}">
                <a16:creationId xmlns:a16="http://schemas.microsoft.com/office/drawing/2014/main" id="{F539CA8D-B836-411E-B09B-5B695F6FE37F}"/>
              </a:ext>
            </a:extLst>
          </p:cNvPr>
          <p:cNvSpPr>
            <a:spLocks xmlns:a="http://schemas.openxmlformats.org/drawingml/2006/main" noGrp="1"/>
          </p:cNvSpPr>
          <p:nvPr/>
        </p:nvSpPr>
        <p:spPr>
          <a:xfrm xmlns:a="http://schemas.openxmlformats.org/drawingml/2006/main">
            <a:off x="7162800" y="4114800"/>
            <a:ext cx="3371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3B52"/>
                </a:solidFill>
              </a:defRPr>
            </a:pPr>
            <a:r>
              <a:rPr sz="1500" b="0">
                <a:solidFill>
                  <a:srgbClr val="2B3B52"/>
                </a:solidFill>
              </a:rPr>
              <a:t>Freigabe</a:t>
            </a:r>
          </a:p>
        </p:txBody>
      </p:sp>
    </p:spTree>
    <p:extLst>
      <p:ext uri="{BB962C8B-B14F-4D97-AF65-F5344CB8AC3E}">
        <p14:creationId xmlns:p14="http://schemas.microsoft.com/office/powerpoint/2010/main" val="1936390523"/>
      </p:ext>
    </p:extLst>
  </p:cSld>
</p:sld>
</file>

<file path=ppt/slides/slide20.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CB8027-B188-42FE-BB6A-1042EC713F8B}"/>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MITGLIEDERBEREICH</a:t>
            </a:r>
          </a:p>
        </p:txBody>
      </p:sp>
      <p:sp>
        <p:nvSpPr>
          <p:cNvPr id="2" name="">
            <a:extLst xmlns:a="http://schemas.openxmlformats.org/drawingml/2006/main">
              <a:ext uri="{FF2B5EF4-FFF2-40B4-BE49-F238E27FC236}">
                <a16:creationId xmlns:a16="http://schemas.microsoft.com/office/drawing/2014/main" id="{6C972391-3FEF-44DA-A986-EA93FD699B28}"/>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Geschuetzte Funktionen erweitern die Webseite</a:t>
            </a:r>
          </a:p>
        </p:txBody>
      </p:sp>
      <p:sp>
        <p:nvSpPr>
          <p:cNvPr id="3" name="">
            <a:extLst xmlns:a="http://schemas.openxmlformats.org/drawingml/2006/main">
              <a:ext uri="{FF2B5EF4-FFF2-40B4-BE49-F238E27FC236}">
                <a16:creationId xmlns:a16="http://schemas.microsoft.com/office/drawing/2014/main" id="{087301AF-81E2-44AF-97C0-3F5B7483016B}"/>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F29566CB-F772-4784-AE8C-537268767779}"/>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20</a:t>
            </a:r>
          </a:p>
        </p:txBody>
      </p:sp>
      <p:sp>
        <p:nvSpPr>
          <p:cNvPr id="5" name="">
            <a:extLst xmlns:a="http://schemas.openxmlformats.org/drawingml/2006/main">
              <a:ext uri="{FF2B5EF4-FFF2-40B4-BE49-F238E27FC236}">
                <a16:creationId xmlns:a16="http://schemas.microsoft.com/office/drawing/2014/main" id="{BFD50C4E-84C1-4EB7-88EA-92253E6A4839}"/>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6D50D5BE-353E-41CF-A39F-843707E73674}"/>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Mitglieder-Events und interne Inhalte</a:t>
            </a:r>
          </a:p>
        </p:txBody>
      </p:sp>
      <p:sp>
        <p:nvSpPr>
          <p:cNvPr id="7" name="">
            <a:extLst xmlns:a="http://schemas.openxmlformats.org/drawingml/2006/main">
              <a:ext uri="{FF2B5EF4-FFF2-40B4-BE49-F238E27FC236}">
                <a16:creationId xmlns:a16="http://schemas.microsoft.com/office/drawing/2014/main" id="{0F8EAD55-2897-4F8C-9800-14963CBC3F15}"/>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5AC52C7C-8F49-4BA8-AB85-18AD562BD3D6}"/>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Dokumente und Mitgliederverzeichnis</a:t>
            </a:r>
          </a:p>
        </p:txBody>
      </p:sp>
      <p:sp>
        <p:nvSpPr>
          <p:cNvPr id="9" name="">
            <a:extLst xmlns:a="http://schemas.openxmlformats.org/drawingml/2006/main">
              <a:ext uri="{FF2B5EF4-FFF2-40B4-BE49-F238E27FC236}">
                <a16:creationId xmlns:a16="http://schemas.microsoft.com/office/drawing/2014/main" id="{BC917BD6-E10B-4817-8EFE-311B926B7992}"/>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7B6A1CFD-91D2-4CCB-832A-A81CBA9D4407}"/>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Profilpflege und Kontaktinformationen</a:t>
            </a:r>
          </a:p>
        </p:txBody>
      </p:sp>
      <p:sp>
        <p:nvSpPr>
          <p:cNvPr id="11" name="">
            <a:extLst xmlns:a="http://schemas.openxmlformats.org/drawingml/2006/main">
              <a:ext uri="{FF2B5EF4-FFF2-40B4-BE49-F238E27FC236}">
                <a16:creationId xmlns:a16="http://schemas.microsoft.com/office/drawing/2014/main" id="{DD584473-7822-472D-B425-51827E13D992}"/>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454D10C2-05B4-428A-ACEF-E58F8BD8E209}"/>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Foto-Upload waehrend oder nach Veranstaltungen</a:t>
            </a:r>
          </a:p>
        </p:txBody>
      </p:sp>
    </p:spTree>
    <p:extLst>
      <p:ext uri="{BB962C8B-B14F-4D97-AF65-F5344CB8AC3E}">
        <p14:creationId xmlns:p14="http://schemas.microsoft.com/office/powerpoint/2010/main" val="1025101954"/>
      </p:ext>
    </p:extLst>
  </p:cSld>
</p:sld>
</file>

<file path=ppt/slides/slide21.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0025EB2-6A46-466A-98CB-C8EE4A7A592E}"/>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FOTO-UPLOAD</a:t>
            </a:r>
          </a:p>
        </p:txBody>
      </p:sp>
      <p:sp>
        <p:nvSpPr>
          <p:cNvPr id="2" name="">
            <a:extLst xmlns:a="http://schemas.openxmlformats.org/drawingml/2006/main">
              <a:ext uri="{FF2B5EF4-FFF2-40B4-BE49-F238E27FC236}">
                <a16:creationId xmlns:a16="http://schemas.microsoft.com/office/drawing/2014/main" id="{6797656C-D7DA-4CA1-8867-F1A5E65DFBBF}"/>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Mitglieder liefern Material, Redaktion behaelt Kontrolle</a:t>
            </a:r>
          </a:p>
        </p:txBody>
      </p:sp>
      <p:sp>
        <p:nvSpPr>
          <p:cNvPr id="3" name="">
            <a:extLst xmlns:a="http://schemas.openxmlformats.org/drawingml/2006/main">
              <a:ext uri="{FF2B5EF4-FFF2-40B4-BE49-F238E27FC236}">
                <a16:creationId xmlns:a16="http://schemas.microsoft.com/office/drawing/2014/main" id="{8EF33374-D377-410C-AEDE-8B46F9A63C92}"/>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CF870AAF-362A-4A73-89A2-676453618711}"/>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21</a:t>
            </a:r>
          </a:p>
        </p:txBody>
      </p:sp>
      <p:sp>
        <p:nvSpPr>
          <p:cNvPr id="5" name="">
            <a:extLst xmlns:a="http://schemas.openxmlformats.org/drawingml/2006/main">
              <a:ext uri="{FF2B5EF4-FFF2-40B4-BE49-F238E27FC236}">
                <a16:creationId xmlns:a16="http://schemas.microsoft.com/office/drawing/2014/main" id="{B871F350-5CE6-42AD-BB94-660597A894E0}"/>
              </a:ext>
            </a:extLst>
          </p:cNvPr>
          <p:cNvSpPr>
            <a:spLocks xmlns:a="http://schemas.openxmlformats.org/drawingml/2006/main" noGrp="1"/>
          </p:cNvSpPr>
          <p:nvPr/>
        </p:nvSpPr>
        <p:spPr>
          <a:xfrm xmlns:a="http://schemas.openxmlformats.org/drawingml/2006/main">
            <a:off x="1047750" y="2333625"/>
            <a:ext cx="29527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BFB22DD3-D0DC-4C37-BA8F-3B79069A2ACB}"/>
              </a:ext>
            </a:extLst>
          </p:cNvPr>
          <p:cNvSpPr>
            <a:spLocks xmlns:a="http://schemas.openxmlformats.org/drawingml/2006/main" noGrp="1"/>
          </p:cNvSpPr>
          <p:nvPr/>
        </p:nvSpPr>
        <p:spPr>
          <a:xfrm xmlns:a="http://schemas.openxmlformats.org/drawingml/2006/main">
            <a:off x="1257300"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F2AE7872-F17B-42EA-8A38-C74520E80695}"/>
              </a:ext>
            </a:extLst>
          </p:cNvPr>
          <p:cNvSpPr>
            <a:spLocks xmlns:a="http://schemas.openxmlformats.org/drawingml/2006/main" noGrp="1"/>
          </p:cNvSpPr>
          <p:nvPr/>
        </p:nvSpPr>
        <p:spPr>
          <a:xfrm xmlns:a="http://schemas.openxmlformats.org/drawingml/2006/main">
            <a:off x="1257300"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911EB5E7-B35F-4AD7-A807-E24CF8546563}"/>
              </a:ext>
            </a:extLst>
          </p:cNvPr>
          <p:cNvSpPr>
            <a:spLocks xmlns:a="http://schemas.openxmlformats.org/drawingml/2006/main" noGrp="1"/>
          </p:cNvSpPr>
          <p:nvPr/>
        </p:nvSpPr>
        <p:spPr>
          <a:xfrm xmlns:a="http://schemas.openxmlformats.org/drawingml/2006/main">
            <a:off x="1790700" y="254317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Mitglied laedt hoch</a:t>
            </a:r>
          </a:p>
        </p:txBody>
      </p:sp>
      <p:sp>
        <p:nvSpPr>
          <p:cNvPr id="9" name="">
            <a:extLst xmlns:a="http://schemas.openxmlformats.org/drawingml/2006/main">
              <a:ext uri="{FF2B5EF4-FFF2-40B4-BE49-F238E27FC236}">
                <a16:creationId xmlns:a16="http://schemas.microsoft.com/office/drawing/2014/main" id="{A6B04A4D-BAE8-4411-9947-267C9988229B}"/>
              </a:ext>
            </a:extLst>
          </p:cNvPr>
          <p:cNvSpPr>
            <a:spLocks xmlns:a="http://schemas.openxmlformats.org/drawingml/2006/main" noGrp="1"/>
          </p:cNvSpPr>
          <p:nvPr/>
        </p:nvSpPr>
        <p:spPr>
          <a:xfrm xmlns:a="http://schemas.openxmlformats.org/drawingml/2006/main">
            <a:off x="1790700" y="2962275"/>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Waehrend oder nach dem Event ueber den Mitgliederbereich.</a:t>
            </a:r>
          </a:p>
        </p:txBody>
      </p:sp>
      <p:sp>
        <p:nvSpPr>
          <p:cNvPr id="10" name="">
            <a:extLst xmlns:a="http://schemas.openxmlformats.org/drawingml/2006/main">
              <a:ext uri="{FF2B5EF4-FFF2-40B4-BE49-F238E27FC236}">
                <a16:creationId xmlns:a16="http://schemas.microsoft.com/office/drawing/2014/main" id="{BA626589-B9AF-4198-BC07-EB25133C88BB}"/>
              </a:ext>
            </a:extLst>
          </p:cNvPr>
          <p:cNvSpPr>
            <a:spLocks xmlns:a="http://schemas.openxmlformats.org/drawingml/2006/main" noGrp="1"/>
          </p:cNvSpPr>
          <p:nvPr/>
        </p:nvSpPr>
        <p:spPr>
          <a:xfrm xmlns:a="http://schemas.openxmlformats.org/drawingml/2006/main">
            <a:off x="4619625" y="2333625"/>
            <a:ext cx="2952750" cy="1619250"/>
          </a:xfrm>
          <a:prstGeom xmlns:a="http://schemas.openxmlformats.org/drawingml/2006/main" prst="roundRect">
            <a:avLst>
              <a:gd name="adj" fmla="val 7059"/>
            </a:avLst>
          </a:prstGeom>
          <a:solidFill xmlns:a="http://schemas.openxmlformats.org/drawingml/2006/main">
            <a:srgbClr val="EEF5FF"/>
          </a:solidFill>
          <a:ln xmlns:a="http://schemas.openxmlformats.org/drawingml/2006/main" w="9525">
            <a:solidFill>
              <a:srgbClr val="D9E4F2"/>
            </a:solidFill>
            <a:prstDash val="solid"/>
          </a:ln>
        </p:spPr>
      </p:sp>
      <p:sp>
        <p:nvSpPr>
          <p:cNvPr id="11" name="">
            <a:extLst xmlns:a="http://schemas.openxmlformats.org/drawingml/2006/main">
              <a:ext uri="{FF2B5EF4-FFF2-40B4-BE49-F238E27FC236}">
                <a16:creationId xmlns:a16="http://schemas.microsoft.com/office/drawing/2014/main" id="{4F6E1DEE-EA1B-4F04-854D-A95BB5147849}"/>
              </a:ext>
            </a:extLst>
          </p:cNvPr>
          <p:cNvSpPr>
            <a:spLocks xmlns:a="http://schemas.openxmlformats.org/drawingml/2006/main" noGrp="1"/>
          </p:cNvSpPr>
          <p:nvPr/>
        </p:nvSpPr>
        <p:spPr>
          <a:xfrm xmlns:a="http://schemas.openxmlformats.org/drawingml/2006/main">
            <a:off x="4829175"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74F82E81-95D1-4FC2-9ACA-89C729D80C02}"/>
              </a:ext>
            </a:extLst>
          </p:cNvPr>
          <p:cNvSpPr>
            <a:spLocks xmlns:a="http://schemas.openxmlformats.org/drawingml/2006/main" noGrp="1"/>
          </p:cNvSpPr>
          <p:nvPr/>
        </p:nvSpPr>
        <p:spPr>
          <a:xfrm xmlns:a="http://schemas.openxmlformats.org/drawingml/2006/main">
            <a:off x="4829175"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38EE29D5-ADFB-4665-9556-E47E2B071529}"/>
              </a:ext>
            </a:extLst>
          </p:cNvPr>
          <p:cNvSpPr>
            <a:spLocks xmlns:a="http://schemas.openxmlformats.org/drawingml/2006/main" noGrp="1"/>
          </p:cNvSpPr>
          <p:nvPr/>
        </p:nvSpPr>
        <p:spPr>
          <a:xfrm xmlns:a="http://schemas.openxmlformats.org/drawingml/2006/main">
            <a:off x="5362575" y="254317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Redaktion prueft</a:t>
            </a:r>
          </a:p>
        </p:txBody>
      </p:sp>
      <p:sp>
        <p:nvSpPr>
          <p:cNvPr id="14" name="">
            <a:extLst xmlns:a="http://schemas.openxmlformats.org/drawingml/2006/main">
              <a:ext uri="{FF2B5EF4-FFF2-40B4-BE49-F238E27FC236}">
                <a16:creationId xmlns:a16="http://schemas.microsoft.com/office/drawing/2014/main" id="{37BB2EA8-99D6-408A-8DF1-53CA3CCB6A16}"/>
              </a:ext>
            </a:extLst>
          </p:cNvPr>
          <p:cNvSpPr>
            <a:spLocks xmlns:a="http://schemas.openxmlformats.org/drawingml/2006/main" noGrp="1"/>
          </p:cNvSpPr>
          <p:nvPr/>
        </p:nvSpPr>
        <p:spPr>
          <a:xfrm xmlns:a="http://schemas.openxmlformats.org/drawingml/2006/main">
            <a:off x="5362575" y="2962275"/>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Material wird gesichtet, bewertet und bei Bedarf aussortiert.</a:t>
            </a:r>
          </a:p>
        </p:txBody>
      </p:sp>
      <p:sp>
        <p:nvSpPr>
          <p:cNvPr id="15" name="">
            <a:extLst xmlns:a="http://schemas.openxmlformats.org/drawingml/2006/main">
              <a:ext uri="{FF2B5EF4-FFF2-40B4-BE49-F238E27FC236}">
                <a16:creationId xmlns:a16="http://schemas.microsoft.com/office/drawing/2014/main" id="{5E1C4CCE-EE16-4283-89C2-C8BEA20D353C}"/>
              </a:ext>
            </a:extLst>
          </p:cNvPr>
          <p:cNvSpPr>
            <a:spLocks xmlns:a="http://schemas.openxmlformats.org/drawingml/2006/main" noGrp="1"/>
          </p:cNvSpPr>
          <p:nvPr/>
        </p:nvSpPr>
        <p:spPr>
          <a:xfrm xmlns:a="http://schemas.openxmlformats.org/drawingml/2006/main">
            <a:off x="8191500" y="2333625"/>
            <a:ext cx="29527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9E4F2"/>
            </a:solidFill>
            <a:prstDash val="solid"/>
          </a:ln>
        </p:spPr>
      </p:sp>
      <p:sp>
        <p:nvSpPr>
          <p:cNvPr id="16" name="">
            <a:extLst xmlns:a="http://schemas.openxmlformats.org/drawingml/2006/main">
              <a:ext uri="{FF2B5EF4-FFF2-40B4-BE49-F238E27FC236}">
                <a16:creationId xmlns:a16="http://schemas.microsoft.com/office/drawing/2014/main" id="{788D01A5-BCEA-4E42-B564-AD705BF3726F}"/>
              </a:ext>
            </a:extLst>
          </p:cNvPr>
          <p:cNvSpPr>
            <a:spLocks xmlns:a="http://schemas.openxmlformats.org/drawingml/2006/main" noGrp="1"/>
          </p:cNvSpPr>
          <p:nvPr/>
        </p:nvSpPr>
        <p:spPr>
          <a:xfrm xmlns:a="http://schemas.openxmlformats.org/drawingml/2006/main">
            <a:off x="8401050" y="2543175"/>
            <a:ext cx="400050" cy="4000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7" name="">
            <a:extLst xmlns:a="http://schemas.openxmlformats.org/drawingml/2006/main">
              <a:ext uri="{FF2B5EF4-FFF2-40B4-BE49-F238E27FC236}">
                <a16:creationId xmlns:a16="http://schemas.microsoft.com/office/drawing/2014/main" id="{64F7FE72-4A22-4F4D-9C3C-F34398AAD965}"/>
              </a:ext>
            </a:extLst>
          </p:cNvPr>
          <p:cNvSpPr>
            <a:spLocks xmlns:a="http://schemas.openxmlformats.org/drawingml/2006/main" noGrp="1"/>
          </p:cNvSpPr>
          <p:nvPr/>
        </p:nvSpPr>
        <p:spPr>
          <a:xfrm xmlns:a="http://schemas.openxmlformats.org/drawingml/2006/main">
            <a:off x="8401050" y="26098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E900E9E9-4134-46F4-A9FF-449AED23633E}"/>
              </a:ext>
            </a:extLst>
          </p:cNvPr>
          <p:cNvSpPr>
            <a:spLocks xmlns:a="http://schemas.openxmlformats.org/drawingml/2006/main" noGrp="1"/>
          </p:cNvSpPr>
          <p:nvPr/>
        </p:nvSpPr>
        <p:spPr>
          <a:xfrm xmlns:a="http://schemas.openxmlformats.org/drawingml/2006/main">
            <a:off x="8934450" y="254317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71A33"/>
                </a:solidFill>
              </a:defRPr>
            </a:pPr>
            <a:r>
              <a:rPr sz="1800" b="1">
                <a:solidFill>
                  <a:srgbClr val="071A33"/>
                </a:solidFill>
              </a:rPr>
              <a:t>Galerie entsteht</a:t>
            </a:r>
          </a:p>
        </p:txBody>
      </p:sp>
      <p:sp>
        <p:nvSpPr>
          <p:cNvPr id="19" name="">
            <a:extLst xmlns:a="http://schemas.openxmlformats.org/drawingml/2006/main">
              <a:ext uri="{FF2B5EF4-FFF2-40B4-BE49-F238E27FC236}">
                <a16:creationId xmlns:a16="http://schemas.microsoft.com/office/drawing/2014/main" id="{3FBF955E-BA66-43A9-81A9-F22E7D1BCE97}"/>
              </a:ext>
            </a:extLst>
          </p:cNvPr>
          <p:cNvSpPr>
            <a:spLocks xmlns:a="http://schemas.openxmlformats.org/drawingml/2006/main" noGrp="1"/>
          </p:cNvSpPr>
          <p:nvPr/>
        </p:nvSpPr>
        <p:spPr>
          <a:xfrm xmlns:a="http://schemas.openxmlformats.org/drawingml/2006/main">
            <a:off x="8934450" y="2962275"/>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E6B7F"/>
                </a:solidFill>
              </a:defRPr>
            </a:pPr>
            <a:r>
              <a:rPr sz="1275" b="0">
                <a:solidFill>
                  <a:srgbClr val="5E6B7F"/>
                </a:solidFill>
              </a:rPr>
              <a:t>Freigegebene Bilder koennen Rueckblick und Dokumentation staerken.</a:t>
            </a:r>
          </a:p>
        </p:txBody>
      </p:sp>
    </p:spTree>
    <p:extLst>
      <p:ext uri="{BB962C8B-B14F-4D97-AF65-F5344CB8AC3E}">
        <p14:creationId xmlns:p14="http://schemas.microsoft.com/office/powerpoint/2010/main" val="1033290215"/>
      </p:ext>
    </p:extLst>
  </p:cSld>
</p:sld>
</file>

<file path=ppt/slides/slide22.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525414-3891-462B-A673-9183C5DE4BE8}"/>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QUALITAETSSICHERUNG</a:t>
            </a:r>
          </a:p>
        </p:txBody>
      </p:sp>
      <p:sp>
        <p:nvSpPr>
          <p:cNvPr id="2" name="">
            <a:extLst xmlns:a="http://schemas.openxmlformats.org/drawingml/2006/main">
              <a:ext uri="{FF2B5EF4-FFF2-40B4-BE49-F238E27FC236}">
                <a16:creationId xmlns:a16="http://schemas.microsoft.com/office/drawing/2014/main" id="{E1ADA449-60F1-469E-A003-A6920861C6A9}"/>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Das CMS zeigt, was vor der Veroeffentlichung fehlt</a:t>
            </a:r>
          </a:p>
        </p:txBody>
      </p:sp>
      <p:sp>
        <p:nvSpPr>
          <p:cNvPr id="3" name="">
            <a:extLst xmlns:a="http://schemas.openxmlformats.org/drawingml/2006/main">
              <a:ext uri="{FF2B5EF4-FFF2-40B4-BE49-F238E27FC236}">
                <a16:creationId xmlns:a16="http://schemas.microsoft.com/office/drawing/2014/main" id="{49B30B89-7C3F-4B08-A812-115D999EBACA}"/>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9E1DD1AA-A866-442F-AF6F-E374A68CC613}"/>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22</a:t>
            </a:r>
          </a:p>
        </p:txBody>
      </p:sp>
      <p:sp>
        <p:nvSpPr>
          <p:cNvPr id="5" name="">
            <a:extLst xmlns:a="http://schemas.openxmlformats.org/drawingml/2006/main">
              <a:ext uri="{FF2B5EF4-FFF2-40B4-BE49-F238E27FC236}">
                <a16:creationId xmlns:a16="http://schemas.microsoft.com/office/drawing/2014/main" id="{49BEB435-FFB4-4321-B76F-0266C8C5383B}"/>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2944709B-1013-4E30-997E-D1E0403FE930}"/>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fehlende Bilder, Thumbnails und Alt-Texte</a:t>
            </a:r>
          </a:p>
        </p:txBody>
      </p:sp>
      <p:sp>
        <p:nvSpPr>
          <p:cNvPr id="7" name="">
            <a:extLst xmlns:a="http://schemas.openxmlformats.org/drawingml/2006/main">
              <a:ext uri="{FF2B5EF4-FFF2-40B4-BE49-F238E27FC236}">
                <a16:creationId xmlns:a16="http://schemas.microsoft.com/office/drawing/2014/main" id="{D83E73DE-D55F-4DEA-861C-14E1CB7268B1}"/>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631FC69A-E18C-47F1-BF64-A311D7787144}"/>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fehlerhafte Links oder leere Galerien</a:t>
            </a:r>
          </a:p>
        </p:txBody>
      </p:sp>
      <p:sp>
        <p:nvSpPr>
          <p:cNvPr id="9" name="">
            <a:extLst xmlns:a="http://schemas.openxmlformats.org/drawingml/2006/main">
              <a:ext uri="{FF2B5EF4-FFF2-40B4-BE49-F238E27FC236}">
                <a16:creationId xmlns:a16="http://schemas.microsoft.com/office/drawing/2014/main" id="{4C2AB736-E7C2-4CA2-8988-65A2ECFD167C}"/>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CF3F9897-FDCC-40C8-BFB9-7570B66618A8}"/>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fehlende Video-Poster und Medienzuordnungen</a:t>
            </a:r>
          </a:p>
        </p:txBody>
      </p:sp>
      <p:sp>
        <p:nvSpPr>
          <p:cNvPr id="11" name="">
            <a:extLst xmlns:a="http://schemas.openxmlformats.org/drawingml/2006/main">
              <a:ext uri="{FF2B5EF4-FFF2-40B4-BE49-F238E27FC236}">
                <a16:creationId xmlns:a16="http://schemas.microsoft.com/office/drawing/2014/main" id="{FDF81B1D-B2D5-40D9-AF0E-F89E1FCE82D4}"/>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D1599C86-EEDF-4980-B804-6E1FF6D699E5}"/>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Sichtbarkeit, Status und Startseitenfreigabe pruefen</a:t>
            </a:r>
          </a:p>
        </p:txBody>
      </p:sp>
    </p:spTree>
    <p:extLst>
      <p:ext uri="{BB962C8B-B14F-4D97-AF65-F5344CB8AC3E}">
        <p14:creationId xmlns:p14="http://schemas.microsoft.com/office/powerpoint/2010/main" val="423978547"/>
      </p:ext>
    </p:extLst>
  </p:cSld>
</p:sld>
</file>

<file path=ppt/slides/slide23.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41E379-DA67-43C5-8951-FEE03EDAD61F}"/>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DATENSICHERHEIT</a:t>
            </a:r>
          </a:p>
        </p:txBody>
      </p:sp>
      <p:sp>
        <p:nvSpPr>
          <p:cNvPr id="2" name="">
            <a:extLst xmlns:a="http://schemas.openxmlformats.org/drawingml/2006/main">
              <a:ext uri="{FF2B5EF4-FFF2-40B4-BE49-F238E27FC236}">
                <a16:creationId xmlns:a16="http://schemas.microsoft.com/office/drawing/2014/main" id="{FBEA3B04-F417-4E47-89D5-6D9ACE5D649F}"/>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Loeschschutz und Statuslogik vermeiden Fehler</a:t>
            </a:r>
          </a:p>
        </p:txBody>
      </p:sp>
      <p:sp>
        <p:nvSpPr>
          <p:cNvPr id="3" name="">
            <a:extLst xmlns:a="http://schemas.openxmlformats.org/drawingml/2006/main">
              <a:ext uri="{FF2B5EF4-FFF2-40B4-BE49-F238E27FC236}">
                <a16:creationId xmlns:a16="http://schemas.microsoft.com/office/drawing/2014/main" id="{4AAB19FE-43F6-4248-83E2-77D7CE009C1C}"/>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EB393C75-76C1-4A39-8D90-544393D77829}"/>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23</a:t>
            </a:r>
          </a:p>
        </p:txBody>
      </p:sp>
      <p:sp>
        <p:nvSpPr>
          <p:cNvPr id="5" name="">
            <a:extLst xmlns:a="http://schemas.openxmlformats.org/drawingml/2006/main">
              <a:ext uri="{FF2B5EF4-FFF2-40B4-BE49-F238E27FC236}">
                <a16:creationId xmlns:a16="http://schemas.microsoft.com/office/drawing/2014/main" id="{7DFC1109-5C69-4172-9FBD-35B1EB310591}"/>
              </a:ext>
            </a:extLst>
          </p:cNvPr>
          <p:cNvSpPr>
            <a:spLocks xmlns:a="http://schemas.openxmlformats.org/drawingml/2006/main" noGrp="1"/>
          </p:cNvSpPr>
          <p:nvPr/>
        </p:nvSpPr>
        <p:spPr>
          <a:xfrm xmlns:a="http://schemas.openxmlformats.org/drawingml/2006/main">
            <a:off x="1047750" y="25622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6" name="">
            <a:extLst xmlns:a="http://schemas.openxmlformats.org/drawingml/2006/main">
              <a:ext uri="{FF2B5EF4-FFF2-40B4-BE49-F238E27FC236}">
                <a16:creationId xmlns:a16="http://schemas.microsoft.com/office/drawing/2014/main" id="{9C2732DF-4077-4FFF-8ACE-27672A3A74CB}"/>
              </a:ext>
            </a:extLst>
          </p:cNvPr>
          <p:cNvSpPr>
            <a:spLocks xmlns:a="http://schemas.openxmlformats.org/drawingml/2006/main" noGrp="1"/>
          </p:cNvSpPr>
          <p:nvPr/>
        </p:nvSpPr>
        <p:spPr>
          <a:xfrm xmlns:a="http://schemas.openxmlformats.org/drawingml/2006/main">
            <a:off x="1295400" y="24765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Nachfrage beim Loeschen ganzer Datensaetze</a:t>
            </a:r>
          </a:p>
        </p:txBody>
      </p:sp>
      <p:sp>
        <p:nvSpPr>
          <p:cNvPr id="7" name="">
            <a:extLst xmlns:a="http://schemas.openxmlformats.org/drawingml/2006/main">
              <a:ext uri="{FF2B5EF4-FFF2-40B4-BE49-F238E27FC236}">
                <a16:creationId xmlns:a16="http://schemas.microsoft.com/office/drawing/2014/main" id="{DC1C7DBC-7D07-4406-8698-C9FAE7F58915}"/>
              </a:ext>
            </a:extLst>
          </p:cNvPr>
          <p:cNvSpPr>
            <a:spLocks xmlns:a="http://schemas.openxmlformats.org/drawingml/2006/main" noGrp="1"/>
          </p:cNvSpPr>
          <p:nvPr/>
        </p:nvSpPr>
        <p:spPr>
          <a:xfrm xmlns:a="http://schemas.openxmlformats.org/drawingml/2006/main">
            <a:off x="1047750" y="31146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8" name="">
            <a:extLst xmlns:a="http://schemas.openxmlformats.org/drawingml/2006/main">
              <a:ext uri="{FF2B5EF4-FFF2-40B4-BE49-F238E27FC236}">
                <a16:creationId xmlns:a16="http://schemas.microsoft.com/office/drawing/2014/main" id="{D5715B73-4FCF-4BA3-BCF0-84D3E70269A5}"/>
              </a:ext>
            </a:extLst>
          </p:cNvPr>
          <p:cNvSpPr>
            <a:spLocks xmlns:a="http://schemas.openxmlformats.org/drawingml/2006/main" noGrp="1"/>
          </p:cNvSpPr>
          <p:nvPr/>
        </p:nvSpPr>
        <p:spPr>
          <a:xfrm xmlns:a="http://schemas.openxmlformats.org/drawingml/2006/main">
            <a:off x="1295400" y="30289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Stornierte oder geloeschte Anmeldungen blockieren keine Neuanmeldung</a:t>
            </a:r>
          </a:p>
        </p:txBody>
      </p:sp>
      <p:sp>
        <p:nvSpPr>
          <p:cNvPr id="9" name="">
            <a:extLst xmlns:a="http://schemas.openxmlformats.org/drawingml/2006/main">
              <a:ext uri="{FF2B5EF4-FFF2-40B4-BE49-F238E27FC236}">
                <a16:creationId xmlns:a16="http://schemas.microsoft.com/office/drawing/2014/main" id="{2E23B420-C5E1-4663-A819-815CB2A9C4CF}"/>
              </a:ext>
            </a:extLst>
          </p:cNvPr>
          <p:cNvSpPr>
            <a:spLocks xmlns:a="http://schemas.openxmlformats.org/drawingml/2006/main" noGrp="1"/>
          </p:cNvSpPr>
          <p:nvPr/>
        </p:nvSpPr>
        <p:spPr>
          <a:xfrm xmlns:a="http://schemas.openxmlformats.org/drawingml/2006/main">
            <a:off x="1047750" y="366712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0" name="">
            <a:extLst xmlns:a="http://schemas.openxmlformats.org/drawingml/2006/main">
              <a:ext uri="{FF2B5EF4-FFF2-40B4-BE49-F238E27FC236}">
                <a16:creationId xmlns:a16="http://schemas.microsoft.com/office/drawing/2014/main" id="{97750B5B-F8B6-4A46-81D5-DC33D0D3CA2B}"/>
              </a:ext>
            </a:extLst>
          </p:cNvPr>
          <p:cNvSpPr>
            <a:spLocks xmlns:a="http://schemas.openxmlformats.org/drawingml/2006/main" noGrp="1"/>
          </p:cNvSpPr>
          <p:nvPr/>
        </p:nvSpPr>
        <p:spPr>
          <a:xfrm xmlns:a="http://schemas.openxmlformats.org/drawingml/2006/main">
            <a:off x="1295400" y="358140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Statuslogik fuer Entwurf, aktiv, archiviert und sichtbar</a:t>
            </a:r>
          </a:p>
        </p:txBody>
      </p:sp>
      <p:sp>
        <p:nvSpPr>
          <p:cNvPr id="11" name="">
            <a:extLst xmlns:a="http://schemas.openxmlformats.org/drawingml/2006/main">
              <a:ext uri="{FF2B5EF4-FFF2-40B4-BE49-F238E27FC236}">
                <a16:creationId xmlns:a16="http://schemas.microsoft.com/office/drawing/2014/main" id="{76ED88E9-899F-4EB6-8615-2F1B46C5A439}"/>
              </a:ext>
            </a:extLst>
          </p:cNvPr>
          <p:cNvSpPr>
            <a:spLocks xmlns:a="http://schemas.openxmlformats.org/drawingml/2006/main" noGrp="1"/>
          </p:cNvSpPr>
          <p:nvPr/>
        </p:nvSpPr>
        <p:spPr>
          <a:xfrm xmlns:a="http://schemas.openxmlformats.org/drawingml/2006/main">
            <a:off x="1047750" y="4219575"/>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2" name="">
            <a:extLst xmlns:a="http://schemas.openxmlformats.org/drawingml/2006/main">
              <a:ext uri="{FF2B5EF4-FFF2-40B4-BE49-F238E27FC236}">
                <a16:creationId xmlns:a16="http://schemas.microsoft.com/office/drawing/2014/main" id="{121699C8-7CDD-40D8-8624-59C831E1240B}"/>
              </a:ext>
            </a:extLst>
          </p:cNvPr>
          <p:cNvSpPr>
            <a:spLocks xmlns:a="http://schemas.openxmlformats.org/drawingml/2006/main" noGrp="1"/>
          </p:cNvSpPr>
          <p:nvPr/>
        </p:nvSpPr>
        <p:spPr>
          <a:xfrm xmlns:a="http://schemas.openxmlformats.org/drawingml/2006/main">
            <a:off x="1295400" y="4133850"/>
            <a:ext cx="870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2B3B52"/>
                </a:solidFill>
              </a:defRPr>
            </a:pPr>
            <a:r>
              <a:rPr sz="1875" b="0">
                <a:solidFill>
                  <a:srgbClr val="2B3B52"/>
                </a:solidFill>
              </a:rPr>
              <a:t>GitHub, Dropbox und Deploy als Betriebs- und Sicherungsschritte</a:t>
            </a:r>
          </a:p>
        </p:txBody>
      </p:sp>
    </p:spTree>
    <p:extLst>
      <p:ext uri="{BB962C8B-B14F-4D97-AF65-F5344CB8AC3E}">
        <p14:creationId xmlns:p14="http://schemas.microsoft.com/office/powerpoint/2010/main" val="2020888504"/>
      </p:ext>
    </p:extLst>
  </p:cSld>
</p:sld>
</file>

<file path=ppt/slides/slide24.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B09BC1F-EF82-4E04-8608-37CCCD7F85FA}"/>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BETRIEBSMODELL</a:t>
            </a:r>
          </a:p>
        </p:txBody>
      </p:sp>
      <p:sp>
        <p:nvSpPr>
          <p:cNvPr id="2" name="">
            <a:extLst xmlns:a="http://schemas.openxmlformats.org/drawingml/2006/main">
              <a:ext uri="{FF2B5EF4-FFF2-40B4-BE49-F238E27FC236}">
                <a16:creationId xmlns:a16="http://schemas.microsoft.com/office/drawing/2014/main" id="{589003B1-628D-4629-8E8E-C0A1A5378B97}"/>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Ein Event wird zum dauerhaften Kommunikationsanlass</a:t>
            </a:r>
          </a:p>
        </p:txBody>
      </p:sp>
      <p:sp>
        <p:nvSpPr>
          <p:cNvPr id="3" name="">
            <a:extLst xmlns:a="http://schemas.openxmlformats.org/drawingml/2006/main">
              <a:ext uri="{FF2B5EF4-FFF2-40B4-BE49-F238E27FC236}">
                <a16:creationId xmlns:a16="http://schemas.microsoft.com/office/drawing/2014/main" id="{9A1832C3-94F3-4DBB-8E74-C8CDFFBCFC99}"/>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C12467DC-B82B-4BBB-8DA7-4D3EACCAF60F}"/>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24</a:t>
            </a:r>
          </a:p>
        </p:txBody>
      </p:sp>
      <p:sp>
        <p:nvSpPr>
          <p:cNvPr id="5" name="">
            <a:extLst xmlns:a="http://schemas.openxmlformats.org/drawingml/2006/main">
              <a:ext uri="{FF2B5EF4-FFF2-40B4-BE49-F238E27FC236}">
                <a16:creationId xmlns:a16="http://schemas.microsoft.com/office/drawing/2014/main" id="{31DB80BE-1B08-42E2-8BD1-B947C12B6337}"/>
              </a:ext>
            </a:extLst>
          </p:cNvPr>
          <p:cNvSpPr>
            <a:spLocks xmlns:a="http://schemas.openxmlformats.org/drawingml/2006/main" noGrp="1"/>
          </p:cNvSpPr>
          <p:nvPr/>
        </p:nvSpPr>
        <p:spPr>
          <a:xfrm xmlns:a="http://schemas.openxmlformats.org/drawingml/2006/main">
            <a:off x="1047750" y="23336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71A33"/>
                </a:solidFill>
              </a:defRPr>
            </a:pPr>
            <a:r>
              <a:rPr sz="2100" b="1">
                <a:solidFill>
                  <a:srgbClr val="071A33"/>
                </a:solidFill>
              </a:rPr>
              <a:t>Vor dem Event</a:t>
            </a:r>
          </a:p>
        </p:txBody>
      </p:sp>
      <p:sp>
        <p:nvSpPr>
          <p:cNvPr id="6" name="">
            <a:extLst xmlns:a="http://schemas.openxmlformats.org/drawingml/2006/main">
              <a:ext uri="{FF2B5EF4-FFF2-40B4-BE49-F238E27FC236}">
                <a16:creationId xmlns:a16="http://schemas.microsoft.com/office/drawing/2014/main" id="{A0A42DC8-9076-4886-806F-8FD326A33796}"/>
              </a:ext>
            </a:extLst>
          </p:cNvPr>
          <p:cNvSpPr>
            <a:spLocks xmlns:a="http://schemas.openxmlformats.org/drawingml/2006/main" noGrp="1"/>
          </p:cNvSpPr>
          <p:nvPr/>
        </p:nvSpPr>
        <p:spPr>
          <a:xfrm xmlns:a="http://schemas.openxmlformats.org/drawingml/2006/main">
            <a:off x="1047750" y="2990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7" name="">
            <a:extLst xmlns:a="http://schemas.openxmlformats.org/drawingml/2006/main">
              <a:ext uri="{FF2B5EF4-FFF2-40B4-BE49-F238E27FC236}">
                <a16:creationId xmlns:a16="http://schemas.microsoft.com/office/drawing/2014/main" id="{0CEDC792-3890-4EF6-86BF-5B865C3BFA9F}"/>
              </a:ext>
            </a:extLst>
          </p:cNvPr>
          <p:cNvSpPr>
            <a:spLocks xmlns:a="http://schemas.openxmlformats.org/drawingml/2006/main" noGrp="1"/>
          </p:cNvSpPr>
          <p:nvPr/>
        </p:nvSpPr>
        <p:spPr>
          <a:xfrm xmlns:a="http://schemas.openxmlformats.org/drawingml/2006/main">
            <a:off x="1295400" y="2905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Einladung</a:t>
            </a:r>
          </a:p>
        </p:txBody>
      </p:sp>
      <p:sp>
        <p:nvSpPr>
          <p:cNvPr id="8" name="">
            <a:extLst xmlns:a="http://schemas.openxmlformats.org/drawingml/2006/main">
              <a:ext uri="{FF2B5EF4-FFF2-40B4-BE49-F238E27FC236}">
                <a16:creationId xmlns:a16="http://schemas.microsoft.com/office/drawing/2014/main" id="{AEC01A68-6CA7-404D-AAF3-7EFAD6DFDB26}"/>
              </a:ext>
            </a:extLst>
          </p:cNvPr>
          <p:cNvSpPr>
            <a:spLocks xmlns:a="http://schemas.openxmlformats.org/drawingml/2006/main" noGrp="1"/>
          </p:cNvSpPr>
          <p:nvPr/>
        </p:nvSpPr>
        <p:spPr>
          <a:xfrm xmlns:a="http://schemas.openxmlformats.org/drawingml/2006/main">
            <a:off x="1047750" y="3371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9" name="">
            <a:extLst xmlns:a="http://schemas.openxmlformats.org/drawingml/2006/main">
              <a:ext uri="{FF2B5EF4-FFF2-40B4-BE49-F238E27FC236}">
                <a16:creationId xmlns:a16="http://schemas.microsoft.com/office/drawing/2014/main" id="{D2DB5097-F725-4C80-B234-5AAC364FC3F3}"/>
              </a:ext>
            </a:extLst>
          </p:cNvPr>
          <p:cNvSpPr>
            <a:spLocks xmlns:a="http://schemas.openxmlformats.org/drawingml/2006/main" noGrp="1"/>
          </p:cNvSpPr>
          <p:nvPr/>
        </p:nvSpPr>
        <p:spPr>
          <a:xfrm xmlns:a="http://schemas.openxmlformats.org/drawingml/2006/main">
            <a:off x="1295400" y="3286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Anmeldung</a:t>
            </a:r>
          </a:p>
        </p:txBody>
      </p:sp>
      <p:sp>
        <p:nvSpPr>
          <p:cNvPr id="10" name="">
            <a:extLst xmlns:a="http://schemas.openxmlformats.org/drawingml/2006/main">
              <a:ext uri="{FF2B5EF4-FFF2-40B4-BE49-F238E27FC236}">
                <a16:creationId xmlns:a16="http://schemas.microsoft.com/office/drawing/2014/main" id="{82D71F26-ECC8-4564-AD29-799A66B787A7}"/>
              </a:ext>
            </a:extLst>
          </p:cNvPr>
          <p:cNvSpPr>
            <a:spLocks xmlns:a="http://schemas.openxmlformats.org/drawingml/2006/main" noGrp="1"/>
          </p:cNvSpPr>
          <p:nvPr/>
        </p:nvSpPr>
        <p:spPr>
          <a:xfrm xmlns:a="http://schemas.openxmlformats.org/drawingml/2006/main">
            <a:off x="1047750" y="3752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1" name="">
            <a:extLst xmlns:a="http://schemas.openxmlformats.org/drawingml/2006/main">
              <a:ext uri="{FF2B5EF4-FFF2-40B4-BE49-F238E27FC236}">
                <a16:creationId xmlns:a16="http://schemas.microsoft.com/office/drawing/2014/main" id="{C4DB5D6C-9C63-4463-92C5-CA75EDD2A446}"/>
              </a:ext>
            </a:extLst>
          </p:cNvPr>
          <p:cNvSpPr>
            <a:spLocks xmlns:a="http://schemas.openxmlformats.org/drawingml/2006/main" noGrp="1"/>
          </p:cNvSpPr>
          <p:nvPr/>
        </p:nvSpPr>
        <p:spPr>
          <a:xfrm xmlns:a="http://schemas.openxmlformats.org/drawingml/2006/main">
            <a:off x="1295400" y="3667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Ticket</a:t>
            </a:r>
          </a:p>
        </p:txBody>
      </p:sp>
      <p:sp>
        <p:nvSpPr>
          <p:cNvPr id="12" name="">
            <a:extLst xmlns:a="http://schemas.openxmlformats.org/drawingml/2006/main">
              <a:ext uri="{FF2B5EF4-FFF2-40B4-BE49-F238E27FC236}">
                <a16:creationId xmlns:a16="http://schemas.microsoft.com/office/drawing/2014/main" id="{F5FE08E0-187D-4889-945C-0144586295C6}"/>
              </a:ext>
            </a:extLst>
          </p:cNvPr>
          <p:cNvSpPr>
            <a:spLocks xmlns:a="http://schemas.openxmlformats.org/drawingml/2006/main" noGrp="1"/>
          </p:cNvSpPr>
          <p:nvPr/>
        </p:nvSpPr>
        <p:spPr>
          <a:xfrm xmlns:a="http://schemas.openxmlformats.org/drawingml/2006/main">
            <a:off x="4762500" y="23336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71A33"/>
                </a:solidFill>
              </a:defRPr>
            </a:pPr>
            <a:r>
              <a:rPr sz="2100" b="1">
                <a:solidFill>
                  <a:srgbClr val="071A33"/>
                </a:solidFill>
              </a:rPr>
              <a:t>Beim Event</a:t>
            </a:r>
          </a:p>
        </p:txBody>
      </p:sp>
      <p:sp>
        <p:nvSpPr>
          <p:cNvPr id="13" name="">
            <a:extLst xmlns:a="http://schemas.openxmlformats.org/drawingml/2006/main">
              <a:ext uri="{FF2B5EF4-FFF2-40B4-BE49-F238E27FC236}">
                <a16:creationId xmlns:a16="http://schemas.microsoft.com/office/drawing/2014/main" id="{E8EA295A-8284-4BC1-836B-B6F90349264A}"/>
              </a:ext>
            </a:extLst>
          </p:cNvPr>
          <p:cNvSpPr>
            <a:spLocks xmlns:a="http://schemas.openxmlformats.org/drawingml/2006/main" noGrp="1"/>
          </p:cNvSpPr>
          <p:nvPr/>
        </p:nvSpPr>
        <p:spPr>
          <a:xfrm xmlns:a="http://schemas.openxmlformats.org/drawingml/2006/main">
            <a:off x="4762500" y="2990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4" name="">
            <a:extLst xmlns:a="http://schemas.openxmlformats.org/drawingml/2006/main">
              <a:ext uri="{FF2B5EF4-FFF2-40B4-BE49-F238E27FC236}">
                <a16:creationId xmlns:a16="http://schemas.microsoft.com/office/drawing/2014/main" id="{DA58E80E-C2D1-4B9A-B6A5-12209FD768B5}"/>
              </a:ext>
            </a:extLst>
          </p:cNvPr>
          <p:cNvSpPr>
            <a:spLocks xmlns:a="http://schemas.openxmlformats.org/drawingml/2006/main" noGrp="1"/>
          </p:cNvSpPr>
          <p:nvPr/>
        </p:nvSpPr>
        <p:spPr>
          <a:xfrm xmlns:a="http://schemas.openxmlformats.org/drawingml/2006/main">
            <a:off x="5010150" y="2905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Check-in</a:t>
            </a:r>
          </a:p>
        </p:txBody>
      </p:sp>
      <p:sp>
        <p:nvSpPr>
          <p:cNvPr id="15" name="">
            <a:extLst xmlns:a="http://schemas.openxmlformats.org/drawingml/2006/main">
              <a:ext uri="{FF2B5EF4-FFF2-40B4-BE49-F238E27FC236}">
                <a16:creationId xmlns:a16="http://schemas.microsoft.com/office/drawing/2014/main" id="{08F2917F-912B-42A3-AE1A-98B79E1390E2}"/>
              </a:ext>
            </a:extLst>
          </p:cNvPr>
          <p:cNvSpPr>
            <a:spLocks xmlns:a="http://schemas.openxmlformats.org/drawingml/2006/main" noGrp="1"/>
          </p:cNvSpPr>
          <p:nvPr/>
        </p:nvSpPr>
        <p:spPr>
          <a:xfrm xmlns:a="http://schemas.openxmlformats.org/drawingml/2006/main">
            <a:off x="4762500" y="3371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6" name="">
            <a:extLst xmlns:a="http://schemas.openxmlformats.org/drawingml/2006/main">
              <a:ext uri="{FF2B5EF4-FFF2-40B4-BE49-F238E27FC236}">
                <a16:creationId xmlns:a16="http://schemas.microsoft.com/office/drawing/2014/main" id="{64DA0B11-75A3-4805-8E1A-3AEF8A8E9646}"/>
              </a:ext>
            </a:extLst>
          </p:cNvPr>
          <p:cNvSpPr>
            <a:spLocks xmlns:a="http://schemas.openxmlformats.org/drawingml/2006/main" noGrp="1"/>
          </p:cNvSpPr>
          <p:nvPr/>
        </p:nvSpPr>
        <p:spPr>
          <a:xfrm xmlns:a="http://schemas.openxmlformats.org/drawingml/2006/main">
            <a:off x="5010150" y="3286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Begruessung</a:t>
            </a:r>
          </a:p>
        </p:txBody>
      </p:sp>
      <p:sp>
        <p:nvSpPr>
          <p:cNvPr id="17" name="">
            <a:extLst xmlns:a="http://schemas.openxmlformats.org/drawingml/2006/main">
              <a:ext uri="{FF2B5EF4-FFF2-40B4-BE49-F238E27FC236}">
                <a16:creationId xmlns:a16="http://schemas.microsoft.com/office/drawing/2014/main" id="{2097A8C7-DAB7-42DD-9B9C-0FF3EBB357B2}"/>
              </a:ext>
            </a:extLst>
          </p:cNvPr>
          <p:cNvSpPr>
            <a:spLocks xmlns:a="http://schemas.openxmlformats.org/drawingml/2006/main" noGrp="1"/>
          </p:cNvSpPr>
          <p:nvPr/>
        </p:nvSpPr>
        <p:spPr>
          <a:xfrm xmlns:a="http://schemas.openxmlformats.org/drawingml/2006/main">
            <a:off x="4762500" y="3752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18" name="">
            <a:extLst xmlns:a="http://schemas.openxmlformats.org/drawingml/2006/main">
              <a:ext uri="{FF2B5EF4-FFF2-40B4-BE49-F238E27FC236}">
                <a16:creationId xmlns:a16="http://schemas.microsoft.com/office/drawing/2014/main" id="{C510BDF8-DF38-448F-B730-A4D22B38B515}"/>
              </a:ext>
            </a:extLst>
          </p:cNvPr>
          <p:cNvSpPr>
            <a:spLocks xmlns:a="http://schemas.openxmlformats.org/drawingml/2006/main" noGrp="1"/>
          </p:cNvSpPr>
          <p:nvPr/>
        </p:nvSpPr>
        <p:spPr>
          <a:xfrm xmlns:a="http://schemas.openxmlformats.org/drawingml/2006/main">
            <a:off x="5010150" y="366712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Foto-Upload</a:t>
            </a:r>
          </a:p>
        </p:txBody>
      </p:sp>
      <p:sp>
        <p:nvSpPr>
          <p:cNvPr id="19" name="">
            <a:extLst xmlns:a="http://schemas.openxmlformats.org/drawingml/2006/main">
              <a:ext uri="{FF2B5EF4-FFF2-40B4-BE49-F238E27FC236}">
                <a16:creationId xmlns:a16="http://schemas.microsoft.com/office/drawing/2014/main" id="{70AF2D6D-7601-4C12-8479-DF5FC21E4CE0}"/>
              </a:ext>
            </a:extLst>
          </p:cNvPr>
          <p:cNvSpPr>
            <a:spLocks xmlns:a="http://schemas.openxmlformats.org/drawingml/2006/main" noGrp="1"/>
          </p:cNvSpPr>
          <p:nvPr/>
        </p:nvSpPr>
        <p:spPr>
          <a:xfrm xmlns:a="http://schemas.openxmlformats.org/drawingml/2006/main">
            <a:off x="8477250" y="2333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71A33"/>
                </a:solidFill>
              </a:defRPr>
            </a:pPr>
            <a:r>
              <a:rPr sz="2100" b="1">
                <a:solidFill>
                  <a:srgbClr val="071A33"/>
                </a:solidFill>
              </a:rPr>
              <a:t>Nach dem Event</a:t>
            </a:r>
          </a:p>
        </p:txBody>
      </p:sp>
      <p:sp>
        <p:nvSpPr>
          <p:cNvPr id="20" name="">
            <a:extLst xmlns:a="http://schemas.openxmlformats.org/drawingml/2006/main">
              <a:ext uri="{FF2B5EF4-FFF2-40B4-BE49-F238E27FC236}">
                <a16:creationId xmlns:a16="http://schemas.microsoft.com/office/drawing/2014/main" id="{5646360C-BB38-440C-8DEB-369EBD02ED1F}"/>
              </a:ext>
            </a:extLst>
          </p:cNvPr>
          <p:cNvSpPr>
            <a:spLocks xmlns:a="http://schemas.openxmlformats.org/drawingml/2006/main" noGrp="1"/>
          </p:cNvSpPr>
          <p:nvPr/>
        </p:nvSpPr>
        <p:spPr>
          <a:xfrm xmlns:a="http://schemas.openxmlformats.org/drawingml/2006/main">
            <a:off x="8477250" y="2990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1" name="">
            <a:extLst xmlns:a="http://schemas.openxmlformats.org/drawingml/2006/main">
              <a:ext uri="{FF2B5EF4-FFF2-40B4-BE49-F238E27FC236}">
                <a16:creationId xmlns:a16="http://schemas.microsoft.com/office/drawing/2014/main" id="{5364C0D7-E3B2-468A-B6F6-8C8B6B642BE5}"/>
              </a:ext>
            </a:extLst>
          </p:cNvPr>
          <p:cNvSpPr>
            <a:spLocks xmlns:a="http://schemas.openxmlformats.org/drawingml/2006/main" noGrp="1"/>
          </p:cNvSpPr>
          <p:nvPr/>
        </p:nvSpPr>
        <p:spPr>
          <a:xfrm xmlns:a="http://schemas.openxmlformats.org/drawingml/2006/main">
            <a:off x="8724900" y="29051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Rueckblick</a:t>
            </a:r>
          </a:p>
        </p:txBody>
      </p:sp>
      <p:sp>
        <p:nvSpPr>
          <p:cNvPr id="22" name="">
            <a:extLst xmlns:a="http://schemas.openxmlformats.org/drawingml/2006/main">
              <a:ext uri="{FF2B5EF4-FFF2-40B4-BE49-F238E27FC236}">
                <a16:creationId xmlns:a16="http://schemas.microsoft.com/office/drawing/2014/main" id="{C5F7F071-CC0E-4504-86DC-A8E4B1D89188}"/>
              </a:ext>
            </a:extLst>
          </p:cNvPr>
          <p:cNvSpPr>
            <a:spLocks xmlns:a="http://schemas.openxmlformats.org/drawingml/2006/main" noGrp="1"/>
          </p:cNvSpPr>
          <p:nvPr/>
        </p:nvSpPr>
        <p:spPr>
          <a:xfrm xmlns:a="http://schemas.openxmlformats.org/drawingml/2006/main">
            <a:off x="8477250" y="3371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3" name="">
            <a:extLst xmlns:a="http://schemas.openxmlformats.org/drawingml/2006/main">
              <a:ext uri="{FF2B5EF4-FFF2-40B4-BE49-F238E27FC236}">
                <a16:creationId xmlns:a16="http://schemas.microsoft.com/office/drawing/2014/main" id="{5CC3F2F1-4B29-411D-9270-E7303607AEBD}"/>
              </a:ext>
            </a:extLst>
          </p:cNvPr>
          <p:cNvSpPr>
            <a:spLocks xmlns:a="http://schemas.openxmlformats.org/drawingml/2006/main" noGrp="1"/>
          </p:cNvSpPr>
          <p:nvPr/>
        </p:nvSpPr>
        <p:spPr>
          <a:xfrm xmlns:a="http://schemas.openxmlformats.org/drawingml/2006/main">
            <a:off x="8724900" y="32861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Robo-Themen</a:t>
            </a:r>
          </a:p>
        </p:txBody>
      </p:sp>
      <p:sp>
        <p:nvSpPr>
          <p:cNvPr id="24" name="">
            <a:extLst xmlns:a="http://schemas.openxmlformats.org/drawingml/2006/main">
              <a:ext uri="{FF2B5EF4-FFF2-40B4-BE49-F238E27FC236}">
                <a16:creationId xmlns:a16="http://schemas.microsoft.com/office/drawing/2014/main" id="{35534917-A26C-4380-B678-65F08A68A024}"/>
              </a:ext>
            </a:extLst>
          </p:cNvPr>
          <p:cNvSpPr>
            <a:spLocks xmlns:a="http://schemas.openxmlformats.org/drawingml/2006/main" noGrp="1"/>
          </p:cNvSpPr>
          <p:nvPr/>
        </p:nvSpPr>
        <p:spPr>
          <a:xfrm xmlns:a="http://schemas.openxmlformats.org/drawingml/2006/main">
            <a:off x="8477250" y="3752850"/>
            <a:ext cx="95250" cy="95250"/>
          </a:xfrm>
          <a:prstGeom xmlns:a="http://schemas.openxmlformats.org/drawingml/2006/main" prst="ellipse">
            <a:avLst/>
          </a:prstGeom>
          <a:solidFill xmlns:a="http://schemas.openxmlformats.org/drawingml/2006/main">
            <a:srgbClr val="E30613"/>
          </a:solidFill>
          <a:ln xmlns:a="http://schemas.openxmlformats.org/drawingml/2006/main" w="0">
            <a:solidFill>
              <a:srgbClr val="E30613"/>
            </a:solidFill>
            <a:prstDash val="solid"/>
          </a:ln>
        </p:spPr>
      </p:sp>
      <p:sp>
        <p:nvSpPr>
          <p:cNvPr id="25" name="">
            <a:extLst xmlns:a="http://schemas.openxmlformats.org/drawingml/2006/main">
              <a:ext uri="{FF2B5EF4-FFF2-40B4-BE49-F238E27FC236}">
                <a16:creationId xmlns:a16="http://schemas.microsoft.com/office/drawing/2014/main" id="{A8D1BE62-1097-4707-8C24-0CF5757D6DED}"/>
              </a:ext>
            </a:extLst>
          </p:cNvPr>
          <p:cNvSpPr>
            <a:spLocks xmlns:a="http://schemas.openxmlformats.org/drawingml/2006/main" noGrp="1"/>
          </p:cNvSpPr>
          <p:nvPr/>
        </p:nvSpPr>
        <p:spPr>
          <a:xfrm xmlns:a="http://schemas.openxmlformats.org/drawingml/2006/main">
            <a:off x="8724900" y="36671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B3B52"/>
                </a:solidFill>
              </a:defRPr>
            </a:pPr>
            <a:r>
              <a:rPr sz="1650" b="0">
                <a:solidFill>
                  <a:srgbClr val="2B3B52"/>
                </a:solidFill>
              </a:rPr>
              <a:t>Nachkommunikation</a:t>
            </a:r>
          </a:p>
        </p:txBody>
      </p:sp>
    </p:spTree>
    <p:extLst>
      <p:ext uri="{BB962C8B-B14F-4D97-AF65-F5344CB8AC3E}">
        <p14:creationId xmlns:p14="http://schemas.microsoft.com/office/powerpoint/2010/main" val="463937268"/>
      </p:ext>
    </p:extLst>
  </p:cSld>
</p:sld>
</file>

<file path=ppt/slides/slide25.xml><?xml version="1.0" encoding="utf-8"?>
<p:sld xmlns:p="http://schemas.openxmlformats.org/presentationml/2006/main">
  <p:cSld>
    <p:bg>
      <p:bgPr>
        <a:solidFill xmlns:a="http://schemas.openxmlformats.org/drawingml/2006/main">
          <a:srgbClr val="F4F8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5A461C-B5BF-4839-8F7E-77E8304E13D1}"/>
              </a:ext>
            </a:extLst>
          </p:cNvPr>
          <p:cNvSpPr>
            <a:spLocks xmlns:a="http://schemas.openxmlformats.org/drawingml/2006/main" noGrp="1"/>
          </p:cNvSpPr>
          <p:nvPr/>
        </p:nvSpPr>
        <p:spPr>
          <a:xfrm xmlns:a="http://schemas.openxmlformats.org/drawingml/2006/main">
            <a:off x="6858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30613"/>
                </a:solidFill>
              </a:defRPr>
            </a:pPr>
            <a:r>
              <a:rPr sz="1125" b="1">
                <a:solidFill>
                  <a:srgbClr val="E30613"/>
                </a:solidFill>
              </a:rPr>
              <a:t>FAZIT</a:t>
            </a:r>
          </a:p>
        </p:txBody>
      </p:sp>
      <p:sp>
        <p:nvSpPr>
          <p:cNvPr id="2" name="">
            <a:extLst xmlns:a="http://schemas.openxmlformats.org/drawingml/2006/main">
              <a:ext uri="{FF2B5EF4-FFF2-40B4-BE49-F238E27FC236}">
                <a16:creationId xmlns:a16="http://schemas.microsoft.com/office/drawing/2014/main" id="{B3A433B8-3860-4767-9B27-D755B1946636}"/>
              </a:ext>
            </a:extLst>
          </p:cNvPr>
          <p:cNvSpPr>
            <a:spLocks xmlns:a="http://schemas.openxmlformats.org/drawingml/2006/main" noGrp="1"/>
          </p:cNvSpPr>
          <p:nvPr/>
        </p:nvSpPr>
        <p:spPr>
          <a:xfrm xmlns:a="http://schemas.openxmlformats.org/drawingml/2006/main">
            <a:off x="685800" y="876300"/>
            <a:ext cx="838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71A33"/>
                </a:solidFill>
              </a:defRPr>
            </a:pPr>
            <a:r>
              <a:rPr sz="3000" b="1">
                <a:solidFill>
                  <a:srgbClr val="071A33"/>
                </a:solidFill>
              </a:rPr>
              <a:t>PROdigitalTV wird zur digitalen Infrastruktur des Vereins</a:t>
            </a:r>
          </a:p>
        </p:txBody>
      </p:sp>
      <p:sp>
        <p:nvSpPr>
          <p:cNvPr id="3" name="">
            <a:extLst xmlns:a="http://schemas.openxmlformats.org/drawingml/2006/main">
              <a:ext uri="{FF2B5EF4-FFF2-40B4-BE49-F238E27FC236}">
                <a16:creationId xmlns:a16="http://schemas.microsoft.com/office/drawing/2014/main" id="{B2AA54FE-C790-4F94-A963-39213D0B9F0B}"/>
              </a:ext>
            </a:extLst>
          </p:cNvPr>
          <p:cNvSpPr>
            <a:spLocks xmlns:a="http://schemas.openxmlformats.org/drawingml/2006/main" noGrp="1"/>
          </p:cNvSpPr>
          <p:nvPr/>
        </p:nvSpPr>
        <p:spPr>
          <a:xfrm xmlns:a="http://schemas.openxmlformats.org/drawingml/2006/main">
            <a:off x="685800" y="6381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E6B7F"/>
                </a:solidFill>
              </a:defRPr>
            </a:pPr>
            <a:r>
              <a:rPr sz="975" b="0">
                <a:solidFill>
                  <a:srgbClr val="5E6B7F"/>
                </a:solidFill>
              </a:rPr>
              <a:t>PROdigitalTV Plattform</a:t>
            </a:r>
          </a:p>
        </p:txBody>
      </p:sp>
      <p:sp>
        <p:nvSpPr>
          <p:cNvPr id="4" name="">
            <a:extLst xmlns:a="http://schemas.openxmlformats.org/drawingml/2006/main">
              <a:ext uri="{FF2B5EF4-FFF2-40B4-BE49-F238E27FC236}">
                <a16:creationId xmlns:a16="http://schemas.microsoft.com/office/drawing/2014/main" id="{6D240275-C65A-4236-B0D9-F067F6C101A3}"/>
              </a:ext>
            </a:extLst>
          </p:cNvPr>
          <p:cNvSpPr>
            <a:spLocks xmlns:a="http://schemas.openxmlformats.org/drawingml/2006/main" noGrp="1"/>
          </p:cNvSpPr>
          <p:nvPr/>
        </p:nvSpPr>
        <p:spPr>
          <a:xfrm xmlns:a="http://schemas.openxmlformats.org/drawingml/2006/main">
            <a:off x="10953750" y="63817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E6B7F"/>
                </a:solidFill>
              </a:defRPr>
            </a:pPr>
            <a:r>
              <a:rPr sz="975" b="0">
                <a:solidFill>
                  <a:srgbClr val="5E6B7F"/>
                </a:solidFill>
              </a:rPr>
              <a:t>25</a:t>
            </a:r>
          </a:p>
        </p:txBody>
      </p:sp>
      <p:sp>
        <p:nvSpPr>
          <p:cNvPr id="5" name="">
            <a:extLst xmlns:a="http://schemas.openxmlformats.org/drawingml/2006/main">
              <a:ext uri="{FF2B5EF4-FFF2-40B4-BE49-F238E27FC236}">
                <a16:creationId xmlns:a16="http://schemas.microsoft.com/office/drawing/2014/main" id="{410C6195-E0F4-4DE6-973F-23FD0FA43A70}"/>
              </a:ext>
            </a:extLst>
          </p:cNvPr>
          <p:cNvSpPr>
            <a:spLocks xmlns:a="http://schemas.openxmlformats.org/drawingml/2006/main" noGrp="1"/>
          </p:cNvSpPr>
          <p:nvPr/>
        </p:nvSpPr>
        <p:spPr>
          <a:xfrm xmlns:a="http://schemas.openxmlformats.org/drawingml/2006/main">
            <a:off x="1143000" y="2333625"/>
            <a:ext cx="9906000" cy="2476500"/>
          </a:xfrm>
          <a:prstGeom xmlns:a="http://schemas.openxmlformats.org/drawingml/2006/main" prst="roundRect">
            <a:avLst>
              <a:gd name="adj" fmla="val 4615"/>
            </a:avLst>
          </a:prstGeom>
          <a:solidFill xmlns:a="http://schemas.openxmlformats.org/drawingml/2006/main">
            <a:srgbClr val="071A33"/>
          </a:solidFill>
          <a:ln xmlns:a="http://schemas.openxmlformats.org/drawingml/2006/main" w="9525">
            <a:solidFill>
              <a:srgbClr val="071A33"/>
            </a:solidFill>
            <a:prstDash val="solid"/>
          </a:ln>
        </p:spPr>
      </p:sp>
      <p:sp>
        <p:nvSpPr>
          <p:cNvPr id="6" name="">
            <a:extLst xmlns:a="http://schemas.openxmlformats.org/drawingml/2006/main">
              <a:ext uri="{FF2B5EF4-FFF2-40B4-BE49-F238E27FC236}">
                <a16:creationId xmlns:a16="http://schemas.microsoft.com/office/drawing/2014/main" id="{C99771D0-AB25-492F-B27A-8AB3C37AC11C}"/>
              </a:ext>
            </a:extLst>
          </p:cNvPr>
          <p:cNvSpPr>
            <a:spLocks xmlns:a="http://schemas.openxmlformats.org/drawingml/2006/main" noGrp="1"/>
          </p:cNvSpPr>
          <p:nvPr/>
        </p:nvSpPr>
        <p:spPr>
          <a:xfrm xmlns:a="http://schemas.openxmlformats.org/drawingml/2006/main">
            <a:off x="1714500" y="280987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FFFFFF"/>
                </a:solidFill>
              </a:defRPr>
            </a:pPr>
            <a:r>
              <a:rPr sz="2850" b="1">
                <a:solidFill>
                  <a:srgbClr val="FFFFFF"/>
                </a:solidFill>
              </a:rPr>
              <a:t>Sichtbarkeit, Professionalitaet und Nachhaltigkeit in einem System.</a:t>
            </a:r>
          </a:p>
        </p:txBody>
      </p:sp>
      <p:sp>
        <p:nvSpPr>
          <p:cNvPr id="7" name="">
            <a:extLst xmlns:a="http://schemas.openxmlformats.org/drawingml/2006/main">
              <a:ext uri="{FF2B5EF4-FFF2-40B4-BE49-F238E27FC236}">
                <a16:creationId xmlns:a16="http://schemas.microsoft.com/office/drawing/2014/main" id="{7BD9457F-2DB8-42FA-A59A-110BA4D492A5}"/>
              </a:ext>
            </a:extLst>
          </p:cNvPr>
          <p:cNvSpPr>
            <a:spLocks xmlns:a="http://schemas.openxmlformats.org/drawingml/2006/main" noGrp="1"/>
          </p:cNvSpPr>
          <p:nvPr/>
        </p:nvSpPr>
        <p:spPr>
          <a:xfrm xmlns:a="http://schemas.openxmlformats.org/drawingml/2006/main">
            <a:off x="2095500" y="3714750"/>
            <a:ext cx="800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a:solidFill>
                  <a:srgbClr val="D9E4F2"/>
                </a:solidFill>
              </a:defRPr>
            </a:pPr>
            <a:r>
              <a:rPr sz="1725" b="0">
                <a:solidFill>
                  <a:srgbClr val="D9E4F2"/>
                </a:solidFill>
              </a:rPr>
              <a:t>Die Plattform verbindet Eventdurchfuehrung, Redaktion, Mitgliederkommunikation und digitale Services zu einem dauerhaften Nutzen fuer PROdigitalTV.</a:t>
            </a:r>
          </a:p>
        </p:txBody>
      </p:sp>
    </p:spTree>
    <p:extLst>
      <p:ext uri="{BB962C8B-B14F-4D97-AF65-F5344CB8AC3E}">
        <p14:creationId xmlns:p14="http://schemas.microsoft.com/office/powerpoint/2010/main" val="12027141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2026-08-19T16:15:23.9750000Z</dcterms:created>
  <dcterms:modified xsi:type="dcterms:W3CDTF">2026-08-19T16:15:23.9750000Z</dcterms:modified>
</coreProperties>
</file>